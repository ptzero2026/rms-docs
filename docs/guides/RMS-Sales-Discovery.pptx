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slide hướng dẫn nội bộ. Khi gặp khách hàng, chọn câu hỏi phù hợp thay vì trình bày toàn bộ. Mục tiêu là kiểm chứng nhu cầu trước khi đề xuất giải pháp.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mở 30 giây: RMS hướng tới tập trung hồ sơ nghiên cứu từ đề xuất đến nghiệm thu và ghi nhận kết quả, giúp làm rõ tiến độ, trách nhiệm và giảm công tổng hợp báo cáo. Chúng tôi muốn hiểu quy trình thực tế để xác định khâu cần ưu tiên. Quản lý kinh phí không thay thế kế toán lõi. Nguồn: docs/product/vision.md và roadmap.md. Repo hiện ở pha docs-first.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liệu nội bộ phục vụ discovery; không xác nhận trạng thái tính năng đã triển khai. RMS đang ở pha docs-first theo AGENTS.md. Năng lực mở rộng E4 là optional/Draft. Sales cần xác nhận với đội sản phẩm trước khi cam kết phạm vi, tiến độ hoặc hiệu quả. Không dùng các mục tiêu đo lường trong vision như kết quả đã được chứng minh.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RMS / SALES ENABLEMENT</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Hiểu đúng vấn đề.</a:t>
            </a:r>
          </a:p>
          <a:p>
            <a:pPr>
              <a:spcAft>
                <a:spcPts val="1200"/>
              </a:spcAft>
              <a:defRPr sz="3000" b="1">
                <a:solidFill>
                  <a:srgbClr val="102A43"/>
                </a:solidFill>
                <a:latin typeface="Arial"/>
              </a:defRPr>
            </a:pPr>
            <a:r>
              <a:t>Đề xuất đúng giải pháp.</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01</a:t>
            </a:r>
          </a:p>
        </p:txBody>
      </p:sp>
      <p:sp>
        <p:nvSpPr>
          <p:cNvPr id="8" name="Rectangle 7"/>
          <p:cNvSpPr/>
          <p:nvPr/>
        </p:nvSpPr>
        <p:spPr>
          <a:xfrm>
            <a:off x="548640" y="2560320"/>
            <a:ext cx="7223760" cy="3246120"/>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880360"/>
            <a:ext cx="6583680" cy="1143000"/>
          </a:xfrm>
          <a:prstGeom prst="rect">
            <a:avLst/>
          </a:prstGeom>
          <a:noFill/>
        </p:spPr>
        <p:txBody>
          <a:bodyPr wrap="square">
            <a:spAutoFit/>
          </a:bodyPr>
          <a:lstStyle/>
          <a:p>
            <a:pPr>
              <a:spcAft>
                <a:spcPts val="1200"/>
              </a:spcAft>
              <a:defRPr sz="2900" b="1">
                <a:solidFill>
                  <a:srgbClr val="FFFFFF"/>
                </a:solidFill>
                <a:latin typeface="Arial"/>
              </a:defRPr>
            </a:pPr>
            <a:r>
              <a:t>Khai thác pain point &amp; nhu cầu</a:t>
            </a:r>
          </a:p>
          <a:p>
            <a:pPr>
              <a:spcAft>
                <a:spcPts val="1200"/>
              </a:spcAft>
              <a:defRPr sz="2900" b="1">
                <a:solidFill>
                  <a:srgbClr val="FFFFFF"/>
                </a:solidFill>
                <a:latin typeface="Arial"/>
              </a:defRPr>
            </a:pPr>
            <a:r>
              <a:t>quản lý nghiên cứu khoa học</a:t>
            </a:r>
          </a:p>
        </p:txBody>
      </p:sp>
      <p:sp>
        <p:nvSpPr>
          <p:cNvPr id="10" name="TextBox 9"/>
          <p:cNvSpPr txBox="1"/>
          <p:nvPr/>
        </p:nvSpPr>
        <p:spPr>
          <a:xfrm>
            <a:off x="859536" y="4480560"/>
            <a:ext cx="6492240" cy="822960"/>
          </a:xfrm>
          <a:prstGeom prst="rect">
            <a:avLst/>
          </a:prstGeom>
          <a:noFill/>
        </p:spPr>
        <p:txBody>
          <a:bodyPr wrap="square">
            <a:spAutoFit/>
          </a:bodyPr>
          <a:lstStyle/>
          <a:p>
            <a:pPr>
              <a:spcAft>
                <a:spcPts val="1200"/>
              </a:spcAft>
              <a:defRPr sz="1900" b="0">
                <a:solidFill>
                  <a:srgbClr val="B8DDF5"/>
                </a:solidFill>
                <a:latin typeface="Arial"/>
              </a:defRPr>
            </a:pPr>
            <a:r>
              <a:t>Sở, ban, ngành  •  Trường đại học  •  Bệnh viện</a:t>
            </a:r>
          </a:p>
        </p:txBody>
      </p:sp>
      <p:sp>
        <p:nvSpPr>
          <p:cNvPr id="11" name="TextBox 10"/>
          <p:cNvSpPr txBox="1"/>
          <p:nvPr/>
        </p:nvSpPr>
        <p:spPr>
          <a:xfrm>
            <a:off x="8229600" y="2788920"/>
            <a:ext cx="3291840" cy="2468880"/>
          </a:xfrm>
          <a:prstGeom prst="rect">
            <a:avLst/>
          </a:prstGeom>
          <a:noFill/>
        </p:spPr>
        <p:txBody>
          <a:bodyPr wrap="square">
            <a:spAutoFit/>
          </a:bodyPr>
          <a:lstStyle/>
          <a:p>
            <a:pPr>
              <a:spcAft>
                <a:spcPts val="1200"/>
              </a:spcAft>
              <a:defRPr sz="2200" b="1">
                <a:solidFill>
                  <a:srgbClr val="102A43"/>
                </a:solidFill>
                <a:latin typeface="Arial"/>
              </a:defRPr>
            </a:pPr>
            <a:r>
              <a:t>01  Hiểu hiện trạng</a:t>
            </a:r>
          </a:p>
          <a:p>
            <a:pPr>
              <a:spcAft>
                <a:spcPts val="1200"/>
              </a:spcAft>
              <a:defRPr sz="2200" b="1">
                <a:solidFill>
                  <a:srgbClr val="102A43"/>
                </a:solidFill>
                <a:latin typeface="Arial"/>
              </a:defRPr>
            </a:pPr>
            <a:r>
              <a:t>02  Đo tác động</a:t>
            </a:r>
          </a:p>
          <a:p>
            <a:pPr>
              <a:spcAft>
                <a:spcPts val="1200"/>
              </a:spcAft>
              <a:defRPr sz="2200" b="1">
                <a:solidFill>
                  <a:srgbClr val="102A43"/>
                </a:solidFill>
                <a:latin typeface="Arial"/>
              </a:defRPr>
            </a:pPr>
            <a:r>
              <a:t>03  Chốt ưu tiên</a:t>
            </a:r>
          </a:p>
          <a:p>
            <a:pPr>
              <a:spcAft>
                <a:spcPts val="1200"/>
              </a:spcAft>
              <a:defRPr sz="2200" b="1">
                <a:solidFill>
                  <a:srgbClr val="102A43"/>
                </a:solidFill>
                <a:latin typeface="Arial"/>
              </a:defRPr>
            </a:pPr>
            <a:r>
              <a:t>04  Thống nhất bước tiếp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RMS là gì?</a:t>
            </a:r>
          </a:p>
        </p:txBody>
      </p:sp>
      <p:sp>
        <p:nvSpPr>
          <p:cNvPr id="5" name="TextBox 4"/>
          <p:cNvSpPr txBox="1"/>
          <p:nvPr/>
        </p:nvSpPr>
        <p:spPr>
          <a:xfrm>
            <a:off x="530352" y="1527048"/>
            <a:ext cx="10972800" cy="594360"/>
          </a:xfrm>
          <a:prstGeom prst="rect">
            <a:avLst/>
          </a:prstGeom>
          <a:noFill/>
        </p:spPr>
        <p:txBody>
          <a:bodyPr wrap="square">
            <a:spAutoFit/>
          </a:bodyPr>
          <a:lstStyle/>
          <a:p>
            <a:pPr>
              <a:spcAft>
                <a:spcPts val="1200"/>
              </a:spcAft>
              <a:defRPr sz="1600" b="0">
                <a:solidFill>
                  <a:srgbClr val="526577"/>
                </a:solidFill>
                <a:latin typeface="Arial"/>
              </a:defRPr>
            </a:pPr>
            <a:r>
              <a:t>Nền tảng số hóa xuyên suốt quá trình quản lý nghiên cứu khoa học.</a:t>
            </a:r>
          </a:p>
        </p:txBody>
      </p:sp>
      <p:sp>
        <p:nvSpPr>
          <p:cNvPr id="6" name="Rectangle 5"/>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8" name="TextBox 7"/>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02</a:t>
            </a:r>
          </a:p>
        </p:txBody>
      </p:sp>
      <p:sp>
        <p:nvSpPr>
          <p:cNvPr id="9" name="Rectangle 8"/>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Một vòng đời</a:t>
            </a:r>
          </a:p>
        </p:txBody>
      </p:sp>
      <p:sp>
        <p:nvSpPr>
          <p:cNvPr id="12" name="TextBox 11"/>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Đề xuất → Xét duyệt</a:t>
            </a:r>
          </a:p>
          <a:p>
            <a:pPr>
              <a:spcAft>
                <a:spcPts val="1200"/>
              </a:spcAft>
              <a:defRPr sz="1800" b="0">
                <a:solidFill>
                  <a:srgbClr val="102A43"/>
                </a:solidFill>
                <a:latin typeface="Arial"/>
              </a:defRPr>
            </a:pPr>
            <a:r>
              <a:t>→ Thực hiện → Nghiệm thu</a:t>
            </a:r>
          </a:p>
          <a:p>
            <a:pPr>
              <a:spcAft>
                <a:spcPts val="1200"/>
              </a:spcAft>
              <a:defRPr sz="1800" b="0">
                <a:solidFill>
                  <a:srgbClr val="102A43"/>
                </a:solidFill>
                <a:latin typeface="Arial"/>
              </a:defRPr>
            </a:pPr>
            <a:r>
              <a:t>→ Sản phẩm khoa học</a:t>
            </a:r>
          </a:p>
        </p:txBody>
      </p:sp>
      <p:sp>
        <p:nvSpPr>
          <p:cNvPr id="13" name="Rectangle 12"/>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Một nguồn dữ liệu</a:t>
            </a:r>
          </a:p>
        </p:txBody>
      </p:sp>
      <p:sp>
        <p:nvSpPr>
          <p:cNvPr id="16" name="TextBox 15"/>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Tập trung hồ sơ, tiến độ, kinh phí và kết quả.</a:t>
            </a:r>
          </a:p>
          <a:p>
            <a:pPr>
              <a:spcAft>
                <a:spcPts val="1200"/>
              </a:spcAft>
              <a:defRPr sz="1800" b="0">
                <a:solidFill>
                  <a:srgbClr val="102A43"/>
                </a:solidFill>
                <a:latin typeface="Arial"/>
              </a:defRPr>
            </a:pPr>
            <a:r>
              <a:t>Làm rõ người xử lý và lịch sử thao tác.</a:t>
            </a:r>
          </a:p>
        </p:txBody>
      </p:sp>
      <p:sp>
        <p:nvSpPr>
          <p:cNvPr id="17" name="Rectangle 16"/>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Nhiều vai trò</a:t>
            </a:r>
          </a:p>
        </p:txBody>
      </p:sp>
      <p:sp>
        <p:nvSpPr>
          <p:cNvPr id="20" name="TextBox 19"/>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Nhà nghiên cứu nộp hồ sơ.</a:t>
            </a:r>
          </a:p>
          <a:p>
            <a:pPr>
              <a:spcAft>
                <a:spcPts val="1200"/>
              </a:spcAft>
              <a:defRPr sz="1800" b="0">
                <a:solidFill>
                  <a:srgbClr val="102A43"/>
                </a:solidFill>
                <a:latin typeface="Arial"/>
              </a:defRPr>
            </a:pPr>
            <a:r>
              <a:t>Chuyên viên điều phối.</a:t>
            </a:r>
          </a:p>
          <a:p>
            <a:pPr>
              <a:spcAft>
                <a:spcPts val="1200"/>
              </a:spcAft>
              <a:defRPr sz="1800" b="0">
                <a:solidFill>
                  <a:srgbClr val="102A43"/>
                </a:solidFill>
                <a:latin typeface="Arial"/>
              </a:defRPr>
            </a:pPr>
            <a:r>
              <a:t>Hội đồng đánh giá.</a:t>
            </a:r>
          </a:p>
          <a:p>
            <a:pPr>
              <a:spcAft>
                <a:spcPts val="1200"/>
              </a:spcAft>
              <a:defRPr sz="1800" b="0">
                <a:solidFill>
                  <a:srgbClr val="102A43"/>
                </a:solidFill>
                <a:latin typeface="Arial"/>
              </a:defRPr>
            </a:pPr>
            <a:r>
              <a:t>Lãnh đạo theo dõi.</a:t>
            </a:r>
          </a:p>
        </p:txBody>
      </p:sp>
      <p:sp>
        <p:nvSpPr>
          <p:cNvPr id="21" name="TextBox 20"/>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Định hướng giải pháp: xác nhận năng lực thực tế trước khi cam kết với khách hàng.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Sau buổi gặp, sales cần mang về gì?</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03</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HIỆN TRẠNG</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Quy mô và loại đề tài.</a:t>
            </a:r>
          </a:p>
          <a:p>
            <a:pPr>
              <a:spcAft>
                <a:spcPts val="1200"/>
              </a:spcAft>
              <a:defRPr sz="1800" b="0">
                <a:solidFill>
                  <a:srgbClr val="102A43"/>
                </a:solidFill>
                <a:latin typeface="Arial"/>
              </a:defRPr>
            </a:pPr>
            <a:r>
              <a:t>Quy trình, công cụ hiện tại.</a:t>
            </a:r>
          </a:p>
          <a:p>
            <a:pPr>
              <a:spcAft>
                <a:spcPts val="1200"/>
              </a:spcAft>
              <a:defRPr sz="1800" b="0">
                <a:solidFill>
                  <a:srgbClr val="102A43"/>
                </a:solidFill>
                <a:latin typeface="Arial"/>
              </a:defRPr>
            </a:pPr>
            <a:r>
              <a:t>Ai làm, ai duyệt, ai chờ?</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VẤN ĐỀ &amp; TÁC ĐỘNG</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Top 3 khó khăn có ví dụ.</a:t>
            </a:r>
          </a:p>
          <a:p>
            <a:pPr>
              <a:spcAft>
                <a:spcPts val="1200"/>
              </a:spcAft>
              <a:defRPr sz="1800" b="0">
                <a:solidFill>
                  <a:srgbClr val="102A43"/>
                </a:solidFill>
                <a:latin typeface="Arial"/>
              </a:defRPr>
            </a:pPr>
            <a:r>
              <a:t>Tần suất, giờ công, sai sót.</a:t>
            </a:r>
          </a:p>
          <a:p>
            <a:pPr>
              <a:spcAft>
                <a:spcPts val="1200"/>
              </a:spcAft>
              <a:defRPr sz="1800" b="0">
                <a:solidFill>
                  <a:srgbClr val="102A43"/>
                </a:solidFill>
                <a:latin typeface="Arial"/>
              </a:defRPr>
            </a:pPr>
            <a:r>
              <a:t>Cách đang khắc phục.</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ƯU TIÊN &amp; HÀNH ĐỘNG</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Kết quả mong muốn.</a:t>
            </a:r>
          </a:p>
          <a:p>
            <a:pPr>
              <a:spcAft>
                <a:spcPts val="1200"/>
              </a:spcAft>
              <a:defRPr sz="1800" b="0">
                <a:solidFill>
                  <a:srgbClr val="102A43"/>
                </a:solidFill>
                <a:latin typeface="Arial"/>
              </a:defRPr>
            </a:pPr>
            <a:r>
              <a:t>Người phụ trách / quyết định.</a:t>
            </a:r>
          </a:p>
          <a:p>
            <a:pPr>
              <a:spcAft>
                <a:spcPts val="1200"/>
              </a:spcAft>
              <a:defRPr sz="1800" b="0">
                <a:solidFill>
                  <a:srgbClr val="102A43"/>
                </a:solidFill>
                <a:latin typeface="Arial"/>
              </a:defRPr>
            </a:pPr>
            <a:r>
              <a:t>Bước tiếp theo có ngày hẹn.</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Pain point là giả thuyết cần kiểm chứng bằng tình huống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Ba nhóm khách hàng trọng tâm</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04</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SỞ, BAN, NGÀNH</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Xác minh phạm vi quản lý nhiệm vụ KH&amp;CN.</a:t>
            </a:r>
          </a:p>
          <a:p>
            <a:pPr>
              <a:spcAft>
                <a:spcPts val="1200"/>
              </a:spcAft>
              <a:defRPr sz="1800" b="0">
                <a:solidFill>
                  <a:srgbClr val="102A43"/>
                </a:solidFill>
                <a:latin typeface="Arial"/>
              </a:defRPr>
            </a:pPr>
            <a:r>
              <a:t>Giả thuyết: nhiều đầu mối, khó tổng hợp tiến độ và kết quả.</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TRƯỜNG ĐẠI HỌC</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Đề tài, công bố và hồ sơ khoa học của giảng viên.</a:t>
            </a:r>
          </a:p>
          <a:p>
            <a:pPr>
              <a:spcAft>
                <a:spcPts val="1200"/>
              </a:spcAft>
              <a:defRPr sz="1800" b="0">
                <a:solidFill>
                  <a:srgbClr val="102A43"/>
                </a:solidFill>
                <a:latin typeface="Arial"/>
              </a:defRPr>
            </a:pPr>
            <a:r>
              <a:t>Giả thuyết: kê khai lặp, thiếu minh chứng, báo cáo tốn công.</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BỆNH VIỆN</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Nghiên cứu tại các khoa; xét duyệt khoa học / đạo đức.</a:t>
            </a:r>
          </a:p>
          <a:p>
            <a:pPr>
              <a:spcAft>
                <a:spcPts val="1200"/>
              </a:spcAft>
              <a:defRPr sz="1800" b="0">
                <a:solidFill>
                  <a:srgbClr val="102A43"/>
                </a:solidFill>
                <a:latin typeface="Arial"/>
              </a:defRPr>
            </a:pPr>
            <a:r>
              <a:t>Giả thuyết: khó theo dõi phiên bản hồ sơ và phê duyệt.</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Phân biệt quản lý nghiên cứu nội bộ với quản lý nhà nước đối với nhiệm vụ KH&amp;CN.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Mở rộng tệp khách hàng có chọn lọc</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05</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VIỆN / TRUNG TÂM</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Nhiều nhóm nghiên cứu và nguồn tài trợ.</a:t>
            </a:r>
          </a:p>
          <a:p>
            <a:pPr>
              <a:spcAft>
                <a:spcPts val="1200"/>
              </a:spcAft>
              <a:defRPr sz="1800" b="0">
                <a:solidFill>
                  <a:srgbClr val="102A43"/>
                </a:solidFill>
                <a:latin typeface="Arial"/>
              </a:defRPr>
            </a:pPr>
            <a:r>
              <a:t>Khai thác: cam kết đầu ra, tiến độ và báo cáo theo nhà tài trợ.</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QUỸ / CHƯƠNG TRÌNH</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Tiếp nhận, đánh giá và theo dõi tài trợ nghiên cứu.</a:t>
            </a:r>
          </a:p>
          <a:p>
            <a:pPr>
              <a:spcAft>
                <a:spcPts val="1200"/>
              </a:spcAft>
              <a:defRPr sz="1800" b="0">
                <a:solidFill>
                  <a:srgbClr val="102A43"/>
                </a:solidFill>
                <a:latin typeface="Arial"/>
              </a:defRPr>
            </a:pPr>
            <a:r>
              <a:t>Khai thác: nhiều vòng đánh giá, khối lượng hồ sơ, theo dõi kết quả.</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TÍN HIỆU ƯU TIÊN</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Khối lượng công việc đáng kể.</a:t>
            </a:r>
          </a:p>
          <a:p>
            <a:pPr>
              <a:spcAft>
                <a:spcPts val="1200"/>
              </a:spcAft>
              <a:defRPr sz="1800" b="0">
                <a:solidFill>
                  <a:srgbClr val="102A43"/>
                </a:solidFill>
                <a:latin typeface="Arial"/>
              </a:defRPr>
            </a:pPr>
            <a:r>
              <a:t>Vấn đề đang cần giải quyết.</a:t>
            </a:r>
          </a:p>
          <a:p>
            <a:pPr>
              <a:spcAft>
                <a:spcPts val="1200"/>
              </a:spcAft>
              <a:defRPr sz="1800" b="0">
                <a:solidFill>
                  <a:srgbClr val="102A43"/>
                </a:solidFill>
                <a:latin typeface="Arial"/>
              </a:defRPr>
            </a:pPr>
            <a:r>
              <a:t>Có chủ quy trình và đầu mối phối hợp.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Tiếp cận đúng người, đủ góc nhìn</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06</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BẮT ĐẦU: NGHIỆP VỤ</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Phòng quản lý khoa học / bộ phận NCKH.</a:t>
            </a:r>
          </a:p>
          <a:p>
            <a:pPr>
              <a:spcAft>
                <a:spcPts val="1200"/>
              </a:spcAft>
              <a:defRPr sz="1800" b="0">
                <a:solidFill>
                  <a:srgbClr val="102A43"/>
                </a:solidFill>
                <a:latin typeface="Arial"/>
              </a:defRPr>
            </a:pPr>
            <a:r>
              <a:t>Gặp thêm chuyên viên, chủ nhiệm hoặc thư ký đề tài.</a:t>
            </a:r>
          </a:p>
          <a:p>
            <a:pPr>
              <a:spcAft>
                <a:spcPts val="1200"/>
              </a:spcAft>
              <a:defRPr sz="1800" b="0">
                <a:solidFill>
                  <a:srgbClr val="102A43"/>
                </a:solidFill>
                <a:latin typeface="Arial"/>
              </a:defRPr>
            </a:pPr>
            <a:r>
              <a:t>Hỏi quy trình và thao tác thật.</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XÁC NHẬN: LÃNH ĐẠO</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Lãnh đạo phụ trách KH&amp;CN, ban giám hiệu / giám đốc.</a:t>
            </a:r>
          </a:p>
          <a:p>
            <a:pPr>
              <a:spcAft>
                <a:spcPts val="1200"/>
              </a:spcAft>
              <a:defRPr sz="1800" b="0">
                <a:solidFill>
                  <a:srgbClr val="102A43"/>
                </a:solidFill>
                <a:latin typeface="Arial"/>
              </a:defRPr>
            </a:pPr>
            <a:r>
              <a:t>Hỏi mục tiêu quản trị, mức ưu tiên và tiêu chí quyết định.</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PHỐI HỢP: TRIỂN KHAI</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CNTT / chuyển đổi số: dữ liệu, tích hợp, vận hành.</a:t>
            </a:r>
          </a:p>
          <a:p>
            <a:pPr>
              <a:spcAft>
                <a:spcPts val="1200"/>
              </a:spcAft>
              <a:defRPr sz="1800" b="0">
                <a:solidFill>
                  <a:srgbClr val="102A43"/>
                </a:solidFill>
                <a:latin typeface="Arial"/>
              </a:defRPr>
            </a:pPr>
            <a:r>
              <a:t>Tài chính / mua sắm: nguồn kinh phí, thủ tục, lịch kế hoạch.</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Tên bộ phận thay đổi theo đơn vị — xác nhận ai thực sự sở hữu quy trình.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Mở cuộc hẹn bằng một công việc cụ thể</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07</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LỜI MỞ GỢI Ý</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“Bên em muốn tìm hiểu cách đơn vị theo dõi đề tài và tổng hợp báo cáo. Anh/chị có thể dành 45 phút để đi qua một hồ sơ thực tế không?”</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TRƯỚC CUỘC GẶP</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Tìm hiểu hoạt động nghiên cứu và cơ cấu đơn vị.</a:t>
            </a:r>
          </a:p>
          <a:p>
            <a:pPr>
              <a:spcAft>
                <a:spcPts val="1200"/>
              </a:spcAft>
              <a:defRPr sz="1800" b="0">
                <a:solidFill>
                  <a:srgbClr val="102A43"/>
                </a:solidFill>
                <a:latin typeface="Arial"/>
              </a:defRPr>
            </a:pPr>
            <a:r>
              <a:t>Xin kết nối chủ quy trình.</a:t>
            </a:r>
          </a:p>
          <a:p>
            <a:pPr>
              <a:spcAft>
                <a:spcPts val="1200"/>
              </a:spcAft>
              <a:defRPr sz="1800" b="0">
                <a:solidFill>
                  <a:srgbClr val="102A43"/>
                </a:solidFill>
                <a:latin typeface="Arial"/>
              </a:defRPr>
            </a:pPr>
            <a:r>
              <a:t>Chuẩn bị một ví dụ hồ sơ hoặc báo cáo để trao đổi.</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KHUNG 45–60 PHÚT</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5 phút: mục tiêu.</a:t>
            </a:r>
          </a:p>
          <a:p>
            <a:pPr>
              <a:spcAft>
                <a:spcPts val="1200"/>
              </a:spcAft>
              <a:defRPr sz="1800" b="0">
                <a:solidFill>
                  <a:srgbClr val="102A43"/>
                </a:solidFill>
                <a:latin typeface="Arial"/>
              </a:defRPr>
            </a:pPr>
            <a:r>
              <a:t>10 phút: hiện trạng.</a:t>
            </a:r>
          </a:p>
          <a:p>
            <a:pPr>
              <a:spcAft>
                <a:spcPts val="1200"/>
              </a:spcAft>
              <a:defRPr sz="1800" b="0">
                <a:solidFill>
                  <a:srgbClr val="102A43"/>
                </a:solidFill>
                <a:latin typeface="Arial"/>
              </a:defRPr>
            </a:pPr>
            <a:r>
              <a:t>20 phút: vấn đề thực tế.</a:t>
            </a:r>
          </a:p>
          <a:p>
            <a:pPr>
              <a:spcAft>
                <a:spcPts val="1200"/>
              </a:spcAft>
              <a:defRPr sz="1800" b="0">
                <a:solidFill>
                  <a:srgbClr val="102A43"/>
                </a:solidFill>
                <a:latin typeface="Arial"/>
              </a:defRPr>
            </a:pPr>
            <a:r>
              <a:t>10 phút: ưu tiên.</a:t>
            </a:r>
          </a:p>
          <a:p>
            <a:pPr>
              <a:spcAft>
                <a:spcPts val="1200"/>
              </a:spcAft>
              <a:defRPr sz="1800" b="0">
                <a:solidFill>
                  <a:srgbClr val="102A43"/>
                </a:solidFill>
                <a:latin typeface="Arial"/>
              </a:defRPr>
            </a:pPr>
            <a:r>
              <a:t>5–10 phút: bước tiếp theo.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Khám phá hiện trạng trước khi hỏi tính năng</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08</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QUY MÔ</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Mỗi năm có bao nhiêu đề xuất và đề tài đang theo dõi?</a:t>
            </a:r>
          </a:p>
          <a:p>
            <a:pPr>
              <a:spcAft>
                <a:spcPts val="1200"/>
              </a:spcAft>
              <a:defRPr sz="1800" b="0">
                <a:solidFill>
                  <a:srgbClr val="102A43"/>
                </a:solidFill>
                <a:latin typeface="Arial"/>
              </a:defRPr>
            </a:pPr>
            <a:r>
              <a:t>Có những cấp đề tài, đơn vị tham gia và nguồn kinh phí nào?</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QUY TRÌNH</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Anh/chị mô tả giúp một hồ sơ gần nhất?</a:t>
            </a:r>
          </a:p>
          <a:p>
            <a:pPr>
              <a:spcAft>
                <a:spcPts val="1200"/>
              </a:spcAft>
              <a:defRPr sz="1800" b="0">
                <a:solidFill>
                  <a:srgbClr val="102A43"/>
                </a:solidFill>
                <a:latin typeface="Arial"/>
              </a:defRPr>
            </a:pPr>
            <a:r>
              <a:t>Ai tiếp nhận, ai duyệt?</a:t>
            </a:r>
          </a:p>
          <a:p>
            <a:pPr>
              <a:spcAft>
                <a:spcPts val="1200"/>
              </a:spcAft>
              <a:defRPr sz="1800" b="0">
                <a:solidFill>
                  <a:srgbClr val="102A43"/>
                </a:solidFill>
                <a:latin typeface="Arial"/>
              </a:defRPr>
            </a:pPr>
            <a:r>
              <a:t>Bước nào phải chờ hoặc làm lại?</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CÔNG CỤ &amp; DỮ LIỆU</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Đang dùng phần mềm, Excel, email hay giấy?</a:t>
            </a:r>
          </a:p>
          <a:p>
            <a:pPr>
              <a:spcAft>
                <a:spcPts val="1200"/>
              </a:spcAft>
              <a:defRPr sz="1800" b="0">
                <a:solidFill>
                  <a:srgbClr val="102A43"/>
                </a:solidFill>
                <a:latin typeface="Arial"/>
              </a:defRPr>
            </a:pPr>
            <a:r>
              <a:t>Dữ liệu nào nhập nhiều lần?</a:t>
            </a:r>
          </a:p>
          <a:p>
            <a:pPr>
              <a:spcAft>
                <a:spcPts val="1200"/>
              </a:spcAft>
              <a:defRPr sz="1800" b="0">
                <a:solidFill>
                  <a:srgbClr val="102A43"/>
                </a:solidFill>
                <a:latin typeface="Arial"/>
              </a:defRPr>
            </a:pPr>
            <a:r>
              <a:t>Báo cáo nào mất công nhất?</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Ghi lại: luồng công việc → điểm bàn giao → nguồn dữ liệu → người chịu trách nhiệm.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Đào sâu: từ lời phàn nàn đến bằng chứng</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09</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1 / TÌNH HUỐNG</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“Lần gần nhất xảy ra là khi nào?”</a:t>
            </a:r>
          </a:p>
          <a:p>
            <a:pPr>
              <a:spcAft>
                <a:spcPts val="1200"/>
              </a:spcAft>
              <a:defRPr sz="1800" b="0">
                <a:solidFill>
                  <a:srgbClr val="102A43"/>
                </a:solidFill>
                <a:latin typeface="Arial"/>
              </a:defRPr>
            </a:pPr>
            <a:r>
              <a:t>“Anh/chị có thể kể cụ thể?”</a:t>
            </a:r>
          </a:p>
          <a:p>
            <a:pPr>
              <a:spcAft>
                <a:spcPts val="1200"/>
              </a:spcAft>
              <a:defRPr sz="1800" b="0">
                <a:solidFill>
                  <a:srgbClr val="102A43"/>
                </a:solidFill>
                <a:latin typeface="Arial"/>
              </a:defRPr>
            </a:pPr>
            <a:r>
              <a:t>“Vướng ở bước nào, vì sao?”</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2 / TÁC ĐỘNG</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“Xảy ra bao nhiêu lần?”</a:t>
            </a:r>
          </a:p>
          <a:p>
            <a:pPr>
              <a:spcAft>
                <a:spcPts val="1200"/>
              </a:spcAft>
              <a:defRPr sz="1800" b="0">
                <a:solidFill>
                  <a:srgbClr val="102A43"/>
                </a:solidFill>
                <a:latin typeface="Arial"/>
              </a:defRPr>
            </a:pPr>
            <a:r>
              <a:t>“Bao nhiêu người / hồ sơ?”</a:t>
            </a:r>
          </a:p>
          <a:p>
            <a:pPr>
              <a:spcAft>
                <a:spcPts val="1200"/>
              </a:spcAft>
              <a:defRPr sz="1800" b="0">
                <a:solidFill>
                  <a:srgbClr val="102A43"/>
                </a:solidFill>
                <a:latin typeface="Arial"/>
              </a:defRPr>
            </a:pPr>
            <a:r>
              <a:t>“Mất bao nhiêu giờ công?”</a:t>
            </a:r>
          </a:p>
          <a:p>
            <a:pPr>
              <a:spcAft>
                <a:spcPts val="1200"/>
              </a:spcAft>
              <a:defRPr sz="1800" b="0">
                <a:solidFill>
                  <a:srgbClr val="102A43"/>
                </a:solidFill>
                <a:latin typeface="Arial"/>
              </a:defRPr>
            </a:pPr>
            <a:r>
              <a:t>“Ảnh hưởng hạn nào?”</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3 / KỲ VỌNG</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“Hiện đang khắc phục thế nào?”</a:t>
            </a:r>
          </a:p>
          <a:p>
            <a:pPr>
              <a:spcAft>
                <a:spcPts val="1200"/>
              </a:spcAft>
              <a:defRPr sz="1800" b="0">
                <a:solidFill>
                  <a:srgbClr val="102A43"/>
                </a:solidFill>
                <a:latin typeface="Arial"/>
              </a:defRPr>
            </a:pPr>
            <a:r>
              <a:t>“Nếu cải thiện được, kết quả quan trọng nhất là gì?”</a:t>
            </a:r>
          </a:p>
          <a:p>
            <a:pPr>
              <a:spcAft>
                <a:spcPts val="1200"/>
              </a:spcAft>
              <a:defRPr sz="1800" b="0">
                <a:solidFill>
                  <a:srgbClr val="102A43"/>
                </a:solidFill>
                <a:latin typeface="Arial"/>
              </a:defRPr>
            </a:pPr>
            <a:r>
              <a:t>“Đo kết quả bằng cách nào?”</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Đo riêng thời gian chờ hoàn thành và số giờ lao động thực tế.</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Câu hỏi riêng cho từng nhóm khách hàng</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10</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SỞ, BAN, NGÀNH</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Quản lý toàn vòng đời hay nhận báo cáo?</a:t>
            </a:r>
          </a:p>
          <a:p>
            <a:pPr>
              <a:spcAft>
                <a:spcPts val="1200"/>
              </a:spcAft>
              <a:defRPr sz="1800" b="0">
                <a:solidFill>
                  <a:srgbClr val="102A43"/>
                </a:solidFill>
                <a:latin typeface="Arial"/>
              </a:defRPr>
            </a:pPr>
            <a:r>
              <a:t>Đơn vị chủ trì cập nhật qua kênh nào?</a:t>
            </a:r>
          </a:p>
          <a:p>
            <a:pPr>
              <a:spcAft>
                <a:spcPts val="1200"/>
              </a:spcAft>
              <a:defRPr sz="1800" b="0">
                <a:solidFill>
                  <a:srgbClr val="102A43"/>
                </a:solidFill>
                <a:latin typeface="Arial"/>
              </a:defRPr>
            </a:pPr>
            <a:r>
              <a:t>Biểu mẫu, thẩm quyền nào bắt buộc?</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TRƯỜNG ĐẠI HỌC</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Công bố và lý lịch khoa học nằm ở đâu?</a:t>
            </a:r>
          </a:p>
          <a:p>
            <a:pPr>
              <a:spcAft>
                <a:spcPts val="1200"/>
              </a:spcAft>
              <a:defRPr sz="1800" b="0">
                <a:solidFill>
                  <a:srgbClr val="102A43"/>
                </a:solidFill>
                <a:latin typeface="Arial"/>
              </a:defRPr>
            </a:pPr>
            <a:r>
              <a:t>Xác minh và tránh ghi nhận trùng thế nào?</a:t>
            </a:r>
          </a:p>
          <a:p>
            <a:pPr>
              <a:spcAft>
                <a:spcPts val="1200"/>
              </a:spcAft>
              <a:defRPr sz="1800" b="0">
                <a:solidFill>
                  <a:srgbClr val="102A43"/>
                </a:solidFill>
                <a:latin typeface="Arial"/>
              </a:defRPr>
            </a:pPr>
            <a:r>
              <a:t>Có nhu cầu quy đổi giờ hoặc quản lý NCKH sinh viên?</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BỆNH VIỆN</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Loại nghiên cứu nào cần duyệt đạo đức?</a:t>
            </a:r>
          </a:p>
          <a:p>
            <a:pPr>
              <a:spcAft>
                <a:spcPts val="1200"/>
              </a:spcAft>
              <a:defRPr sz="1800" b="0">
                <a:solidFill>
                  <a:srgbClr val="102A43"/>
                </a:solidFill>
                <a:latin typeface="Arial"/>
              </a:defRPr>
            </a:pPr>
            <a:r>
              <a:t>Đề cương sửa đổi được quản lý thế nào?</a:t>
            </a:r>
          </a:p>
          <a:p>
            <a:pPr>
              <a:spcAft>
                <a:spcPts val="1200"/>
              </a:spcAft>
              <a:defRPr sz="1800" b="0">
                <a:solidFill>
                  <a:srgbClr val="102A43"/>
                </a:solidFill>
                <a:latin typeface="Arial"/>
              </a:defRPr>
            </a:pPr>
            <a:r>
              <a:t>Cần hồ sơ quản lý hay cả dữ liệu nghiên cứu lâm sàng?</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Quy đổi giờ, hoạt động mở rộng và dữ liệu lâm sàng: cần khảo sát, xác nhận phạm vi riêng.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Chuyển mong muốn thành tiêu chí thành công</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11</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ƯU TIÊN NGHIỆP VỤ</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Nếu chỉ cải thiện một khâu, chọn khâu nào?</a:t>
            </a:r>
          </a:p>
          <a:p>
            <a:pPr>
              <a:spcAft>
                <a:spcPts val="1200"/>
              </a:spcAft>
              <a:defRPr sz="1800" b="0">
                <a:solidFill>
                  <a:srgbClr val="102A43"/>
                </a:solidFill>
                <a:latin typeface="Arial"/>
              </a:defRPr>
            </a:pPr>
            <a:r>
              <a:t>Ba yêu cầu bắt buộc là gì?</a:t>
            </a:r>
          </a:p>
          <a:p>
            <a:pPr>
              <a:spcAft>
                <a:spcPts val="1200"/>
              </a:spcAft>
              <a:defRPr sz="1800" b="0">
                <a:solidFill>
                  <a:srgbClr val="102A43"/>
                </a:solidFill>
                <a:latin typeface="Arial"/>
              </a:defRPr>
            </a:pPr>
            <a:r>
              <a:t>Sau 3–6 tháng, đo hiệu quả bằng chỉ số nào?</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ĐIỀU KIỆN TRIỂN KHAI</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Cần kết nối hệ thống nào?</a:t>
            </a:r>
          </a:p>
          <a:p>
            <a:pPr>
              <a:spcAft>
                <a:spcPts val="1200"/>
              </a:spcAft>
              <a:defRPr sz="1800" b="0">
                <a:solidFill>
                  <a:srgbClr val="102A43"/>
                </a:solidFill>
                <a:latin typeface="Arial"/>
              </a:defRPr>
            </a:pPr>
            <a:r>
              <a:t>Dữ liệu cũ bao nhiêu năm?</a:t>
            </a:r>
          </a:p>
          <a:p>
            <a:pPr>
              <a:spcAft>
                <a:spcPts val="1200"/>
              </a:spcAft>
              <a:defRPr sz="1800" b="0">
                <a:solidFill>
                  <a:srgbClr val="102A43"/>
                </a:solidFill>
                <a:latin typeface="Arial"/>
              </a:defRPr>
            </a:pPr>
            <a:r>
              <a:t>Ai xác nhận dữ liệu?</a:t>
            </a:r>
          </a:p>
          <a:p>
            <a:pPr>
              <a:spcAft>
                <a:spcPts val="1200"/>
              </a:spcAft>
              <a:defRPr sz="1800" b="0">
                <a:solidFill>
                  <a:srgbClr val="102A43"/>
                </a:solidFill>
                <a:latin typeface="Arial"/>
              </a:defRPr>
            </a:pPr>
            <a:r>
              <a:t>Điều gì cản trở người dùng chuyển đổi?</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LÀM RÕ “TÍNH NĂNG”</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“Dashboard”: ai xem, quyết định gì?</a:t>
            </a:r>
          </a:p>
          <a:p>
            <a:pPr>
              <a:spcAft>
                <a:spcPts val="1200"/>
              </a:spcAft>
              <a:defRPr sz="1800" b="0">
                <a:solidFill>
                  <a:srgbClr val="102A43"/>
                </a:solidFill>
                <a:latin typeface="Arial"/>
              </a:defRPr>
            </a:pPr>
            <a:r>
              <a:t>“Báo cáo”: mẫu nào, nguồn nào?</a:t>
            </a:r>
          </a:p>
          <a:p>
            <a:pPr>
              <a:spcAft>
                <a:spcPts val="1200"/>
              </a:spcAft>
              <a:defRPr sz="1800" b="0">
                <a:solidFill>
                  <a:srgbClr val="102A43"/>
                </a:solidFill>
                <a:latin typeface="Arial"/>
              </a:defRPr>
            </a:pPr>
            <a:r>
              <a:t>“Nhắc hạn”: nhắc ai, khi nào, quá hạn xử lý ra sao?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Đánh giá khả năng triển khai</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12</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VÌ SAO LÚC NÀY?</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Có hạn báo cáo hoặc kỳ đăng ký sắp tới?</a:t>
            </a:r>
          </a:p>
          <a:p>
            <a:pPr>
              <a:spcAft>
                <a:spcPts val="1200"/>
              </a:spcAft>
              <a:defRPr sz="1800" b="0">
                <a:solidFill>
                  <a:srgbClr val="102A43"/>
                </a:solidFill>
                <a:latin typeface="Arial"/>
              </a:defRPr>
            </a:pPr>
            <a:r>
              <a:t>Nằm trong kế hoạch chuyển đổi số?</a:t>
            </a:r>
          </a:p>
          <a:p>
            <a:pPr>
              <a:spcAft>
                <a:spcPts val="1200"/>
              </a:spcAft>
              <a:defRPr sz="1800" b="0">
                <a:solidFill>
                  <a:srgbClr val="102A43"/>
                </a:solidFill>
                <a:latin typeface="Arial"/>
              </a:defRPr>
            </a:pPr>
            <a:r>
              <a:t>Nếu chưa xử lý, tác động gì?</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AI &amp; NGUỒN LỰC?</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Ai chủ trì, ai đánh giá, ai phê duyệt?</a:t>
            </a:r>
          </a:p>
          <a:p>
            <a:pPr>
              <a:spcAft>
                <a:spcPts val="1200"/>
              </a:spcAft>
              <a:defRPr sz="1800" b="0">
                <a:solidFill>
                  <a:srgbClr val="102A43"/>
                </a:solidFill>
                <a:latin typeface="Arial"/>
              </a:defRPr>
            </a:pPr>
            <a:r>
              <a:t>Đã có nguồn kinh phí hay cần lập đề xuất?</a:t>
            </a:r>
          </a:p>
          <a:p>
            <a:pPr>
              <a:spcAft>
                <a:spcPts val="1200"/>
              </a:spcAft>
              <a:defRPr sz="1800" b="0">
                <a:solidFill>
                  <a:srgbClr val="102A43"/>
                </a:solidFill>
                <a:latin typeface="Arial"/>
              </a:defRPr>
            </a:pPr>
            <a:r>
              <a:t>Quy trình mua sắm gồm bước nào?</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BƯỚC ĐI KHẢ THI</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Đã thử giải pháp gì?</a:t>
            </a:r>
          </a:p>
          <a:p>
            <a:pPr>
              <a:spcAft>
                <a:spcPts val="1200"/>
              </a:spcAft>
              <a:defRPr sz="1800" b="0">
                <a:solidFill>
                  <a:srgbClr val="102A43"/>
                </a:solidFill>
                <a:latin typeface="Arial"/>
              </a:defRPr>
            </a:pPr>
            <a:r>
              <a:t>Bộ phận nào có thể triển khai trước?</a:t>
            </a:r>
          </a:p>
          <a:p>
            <a:pPr>
              <a:spcAft>
                <a:spcPts val="1200"/>
              </a:spcAft>
              <a:defRPr sz="1800" b="0">
                <a:solidFill>
                  <a:srgbClr val="102A43"/>
                </a:solidFill>
                <a:latin typeface="Arial"/>
              </a:defRPr>
            </a:pPr>
            <a:r>
              <a:t>Cần ai tham gia buổi tiếp theo?</a:t>
            </a:r>
          </a:p>
          <a:p>
            <a:pPr>
              <a:spcAft>
                <a:spcPts val="1200"/>
              </a:spcAft>
              <a:defRPr sz="1800" b="0">
                <a:solidFill>
                  <a:srgbClr val="102A43"/>
                </a:solidFill>
                <a:latin typeface="Arial"/>
              </a:defRPr>
            </a:pPr>
            <a:r>
              <a:t>Khi nào có thể quyết định?</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Cơ hội có cơ sở = vấn đề rõ + tác động + chủ trì + ưu tiên + bước tiếp theo.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Phiếu ghi nhận: mỗi pain point một bản ghi</a:t>
            </a:r>
          </a:p>
        </p:txBody>
      </p:sp>
      <p:sp>
        <p:nvSpPr>
          <p:cNvPr id="5" name="TextBox 4"/>
          <p:cNvSpPr txBox="1"/>
          <p:nvPr/>
        </p:nvSpPr>
        <p:spPr>
          <a:xfrm>
            <a:off x="530352" y="1527048"/>
            <a:ext cx="10972800" cy="594360"/>
          </a:xfrm>
          <a:prstGeom prst="rect">
            <a:avLst/>
          </a:prstGeom>
          <a:noFill/>
        </p:spPr>
        <p:txBody>
          <a:bodyPr wrap="square">
            <a:spAutoFit/>
          </a:bodyPr>
          <a:lstStyle/>
          <a:p>
            <a:pPr>
              <a:spcAft>
                <a:spcPts val="1200"/>
              </a:spcAft>
              <a:defRPr sz="1600" b="0">
                <a:solidFill>
                  <a:srgbClr val="526577"/>
                </a:solidFill>
                <a:latin typeface="Arial"/>
              </a:defRPr>
            </a:pPr>
            <a:r>
              <a:t>Dùng ngay sau buổi phỏng vấn để bàn giao cho đội giải pháp / sản phẩm.</a:t>
            </a:r>
          </a:p>
        </p:txBody>
      </p:sp>
      <p:sp>
        <p:nvSpPr>
          <p:cNvPr id="6" name="Rectangle 5"/>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8" name="TextBox 7"/>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13</a:t>
            </a:r>
          </a:p>
        </p:txBody>
      </p:sp>
      <p:sp>
        <p:nvSpPr>
          <p:cNvPr id="9" name="Rectangle 8"/>
          <p:cNvSpPr/>
          <p:nvPr/>
        </p:nvSpPr>
        <p:spPr>
          <a:xfrm>
            <a:off x="548640" y="2240280"/>
            <a:ext cx="11064240" cy="576072"/>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313432"/>
            <a:ext cx="2743200" cy="457200"/>
          </a:xfrm>
          <a:prstGeom prst="rect">
            <a:avLst/>
          </a:prstGeom>
          <a:noFill/>
        </p:spPr>
        <p:txBody>
          <a:bodyPr wrap="square">
            <a:spAutoFit/>
          </a:bodyPr>
          <a:lstStyle/>
          <a:p>
            <a:pPr>
              <a:spcAft>
                <a:spcPts val="1200"/>
              </a:spcAft>
              <a:defRPr sz="1600" b="1">
                <a:solidFill>
                  <a:srgbClr val="1769E0"/>
                </a:solidFill>
                <a:latin typeface="Arial"/>
              </a:defRPr>
            </a:pPr>
            <a:r>
              <a:t>Bối cảnh</a:t>
            </a:r>
          </a:p>
        </p:txBody>
      </p:sp>
      <p:sp>
        <p:nvSpPr>
          <p:cNvPr id="11" name="TextBox 10"/>
          <p:cNvSpPr txBox="1"/>
          <p:nvPr/>
        </p:nvSpPr>
        <p:spPr>
          <a:xfrm>
            <a:off x="3520440" y="2313432"/>
            <a:ext cx="7818120" cy="457200"/>
          </a:xfrm>
          <a:prstGeom prst="rect">
            <a:avLst/>
          </a:prstGeom>
          <a:noFill/>
        </p:spPr>
        <p:txBody>
          <a:bodyPr wrap="square">
            <a:spAutoFit/>
          </a:bodyPr>
          <a:lstStyle/>
          <a:p>
            <a:pPr>
              <a:spcAft>
                <a:spcPts val="1200"/>
              </a:spcAft>
              <a:defRPr sz="1600" b="0">
                <a:solidFill>
                  <a:srgbClr val="102A43"/>
                </a:solidFill>
                <a:latin typeface="Arial"/>
              </a:defRPr>
            </a:pPr>
            <a:r>
              <a:t>Đơn vị • người trao đổi • vai trò • ngày gặp • quy trình / công cụ</a:t>
            </a:r>
          </a:p>
        </p:txBody>
      </p:sp>
      <p:sp>
        <p:nvSpPr>
          <p:cNvPr id="12" name="Rectangle 11"/>
          <p:cNvSpPr/>
          <p:nvPr/>
        </p:nvSpPr>
        <p:spPr>
          <a:xfrm>
            <a:off x="548640" y="2880360"/>
            <a:ext cx="11064240" cy="576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953512"/>
            <a:ext cx="2743200" cy="457200"/>
          </a:xfrm>
          <a:prstGeom prst="rect">
            <a:avLst/>
          </a:prstGeom>
          <a:noFill/>
        </p:spPr>
        <p:txBody>
          <a:bodyPr wrap="square">
            <a:spAutoFit/>
          </a:bodyPr>
          <a:lstStyle/>
          <a:p>
            <a:pPr>
              <a:spcAft>
                <a:spcPts val="1200"/>
              </a:spcAft>
              <a:defRPr sz="1600" b="1">
                <a:solidFill>
                  <a:srgbClr val="1769E0"/>
                </a:solidFill>
                <a:latin typeface="Arial"/>
              </a:defRPr>
            </a:pPr>
            <a:r>
              <a:t>Vấn đề &amp; bằng chứng</a:t>
            </a:r>
          </a:p>
        </p:txBody>
      </p:sp>
      <p:sp>
        <p:nvSpPr>
          <p:cNvPr id="14" name="TextBox 13"/>
          <p:cNvSpPr txBox="1"/>
          <p:nvPr/>
        </p:nvSpPr>
        <p:spPr>
          <a:xfrm>
            <a:off x="3520440" y="2953512"/>
            <a:ext cx="7818120" cy="457200"/>
          </a:xfrm>
          <a:prstGeom prst="rect">
            <a:avLst/>
          </a:prstGeom>
          <a:noFill/>
        </p:spPr>
        <p:txBody>
          <a:bodyPr wrap="square">
            <a:spAutoFit/>
          </a:bodyPr>
          <a:lstStyle/>
          <a:p>
            <a:pPr>
              <a:spcAft>
                <a:spcPts val="1200"/>
              </a:spcAft>
              <a:defRPr sz="1600" b="0">
                <a:solidFill>
                  <a:srgbClr val="102A43"/>
                </a:solidFill>
                <a:latin typeface="Arial"/>
              </a:defRPr>
            </a:pPr>
            <a:r>
              <a:t>Ai gặp? Ở bước nào? Ví dụ gần nhất? Tài liệu minh họa?</a:t>
            </a:r>
          </a:p>
        </p:txBody>
      </p:sp>
      <p:sp>
        <p:nvSpPr>
          <p:cNvPr id="15" name="Rectangle 14"/>
          <p:cNvSpPr/>
          <p:nvPr/>
        </p:nvSpPr>
        <p:spPr>
          <a:xfrm>
            <a:off x="548640" y="3520440"/>
            <a:ext cx="11064240" cy="576072"/>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593592"/>
            <a:ext cx="2743200" cy="457200"/>
          </a:xfrm>
          <a:prstGeom prst="rect">
            <a:avLst/>
          </a:prstGeom>
          <a:noFill/>
        </p:spPr>
        <p:txBody>
          <a:bodyPr wrap="square">
            <a:spAutoFit/>
          </a:bodyPr>
          <a:lstStyle/>
          <a:p>
            <a:pPr>
              <a:spcAft>
                <a:spcPts val="1200"/>
              </a:spcAft>
              <a:defRPr sz="1600" b="1">
                <a:solidFill>
                  <a:srgbClr val="1769E0"/>
                </a:solidFill>
                <a:latin typeface="Arial"/>
              </a:defRPr>
            </a:pPr>
            <a:r>
              <a:t>Tác động &amp; cách xử lý</a:t>
            </a:r>
          </a:p>
        </p:txBody>
      </p:sp>
      <p:sp>
        <p:nvSpPr>
          <p:cNvPr id="17" name="TextBox 16"/>
          <p:cNvSpPr txBox="1"/>
          <p:nvPr/>
        </p:nvSpPr>
        <p:spPr>
          <a:xfrm>
            <a:off x="3520440" y="3593592"/>
            <a:ext cx="7818120" cy="457200"/>
          </a:xfrm>
          <a:prstGeom prst="rect">
            <a:avLst/>
          </a:prstGeom>
          <a:noFill/>
        </p:spPr>
        <p:txBody>
          <a:bodyPr wrap="square">
            <a:spAutoFit/>
          </a:bodyPr>
          <a:lstStyle/>
          <a:p>
            <a:pPr>
              <a:spcAft>
                <a:spcPts val="1200"/>
              </a:spcAft>
              <a:defRPr sz="1600" b="0">
                <a:solidFill>
                  <a:srgbClr val="102A43"/>
                </a:solidFill>
                <a:latin typeface="Arial"/>
              </a:defRPr>
            </a:pPr>
            <a:r>
              <a:t>Tần suất • số hồ sơ • giờ công • sai sót • cách khắc phục hiện tại</a:t>
            </a:r>
          </a:p>
        </p:txBody>
      </p:sp>
      <p:sp>
        <p:nvSpPr>
          <p:cNvPr id="18" name="Rectangle 17"/>
          <p:cNvSpPr/>
          <p:nvPr/>
        </p:nvSpPr>
        <p:spPr>
          <a:xfrm>
            <a:off x="548640" y="4160520"/>
            <a:ext cx="11064240" cy="576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4233672"/>
            <a:ext cx="2743200" cy="457200"/>
          </a:xfrm>
          <a:prstGeom prst="rect">
            <a:avLst/>
          </a:prstGeom>
          <a:noFill/>
        </p:spPr>
        <p:txBody>
          <a:bodyPr wrap="square">
            <a:spAutoFit/>
          </a:bodyPr>
          <a:lstStyle/>
          <a:p>
            <a:pPr>
              <a:spcAft>
                <a:spcPts val="1200"/>
              </a:spcAft>
              <a:defRPr sz="1600" b="1">
                <a:solidFill>
                  <a:srgbClr val="1769E0"/>
                </a:solidFill>
                <a:latin typeface="Arial"/>
              </a:defRPr>
            </a:pPr>
            <a:r>
              <a:t>Kết quả &amp; ưu tiên</a:t>
            </a:r>
          </a:p>
        </p:txBody>
      </p:sp>
      <p:sp>
        <p:nvSpPr>
          <p:cNvPr id="20" name="TextBox 19"/>
          <p:cNvSpPr txBox="1"/>
          <p:nvPr/>
        </p:nvSpPr>
        <p:spPr>
          <a:xfrm>
            <a:off x="3520440" y="4233672"/>
            <a:ext cx="7818120" cy="457200"/>
          </a:xfrm>
          <a:prstGeom prst="rect">
            <a:avLst/>
          </a:prstGeom>
          <a:noFill/>
        </p:spPr>
        <p:txBody>
          <a:bodyPr wrap="square">
            <a:spAutoFit/>
          </a:bodyPr>
          <a:lstStyle/>
          <a:p>
            <a:pPr>
              <a:spcAft>
                <a:spcPts val="1200"/>
              </a:spcAft>
              <a:defRPr sz="1600" b="0">
                <a:solidFill>
                  <a:srgbClr val="102A43"/>
                </a:solidFill>
                <a:latin typeface="Arial"/>
              </a:defRPr>
            </a:pPr>
            <a:r>
              <a:t>Mức hiện tại → mục tiêu • cách đo • bắt buộc / cần có / để sau</a:t>
            </a:r>
          </a:p>
        </p:txBody>
      </p:sp>
      <p:sp>
        <p:nvSpPr>
          <p:cNvPr id="21" name="Rectangle 20"/>
          <p:cNvSpPr/>
          <p:nvPr/>
        </p:nvSpPr>
        <p:spPr>
          <a:xfrm>
            <a:off x="548640" y="4800600"/>
            <a:ext cx="11064240" cy="576072"/>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4873752"/>
            <a:ext cx="2743200" cy="457200"/>
          </a:xfrm>
          <a:prstGeom prst="rect">
            <a:avLst/>
          </a:prstGeom>
          <a:noFill/>
        </p:spPr>
        <p:txBody>
          <a:bodyPr wrap="square">
            <a:spAutoFit/>
          </a:bodyPr>
          <a:lstStyle/>
          <a:p>
            <a:pPr>
              <a:spcAft>
                <a:spcPts val="1200"/>
              </a:spcAft>
              <a:defRPr sz="1600" b="1">
                <a:solidFill>
                  <a:srgbClr val="1769E0"/>
                </a:solidFill>
                <a:latin typeface="Arial"/>
              </a:defRPr>
            </a:pPr>
            <a:r>
              <a:t>Phù hợp &amp; hành động</a:t>
            </a:r>
          </a:p>
        </p:txBody>
      </p:sp>
      <p:sp>
        <p:nvSpPr>
          <p:cNvPr id="23" name="TextBox 22"/>
          <p:cNvSpPr txBox="1"/>
          <p:nvPr/>
        </p:nvSpPr>
        <p:spPr>
          <a:xfrm>
            <a:off x="3520440" y="4873752"/>
            <a:ext cx="7818120" cy="457200"/>
          </a:xfrm>
          <a:prstGeom prst="rect">
            <a:avLst/>
          </a:prstGeom>
          <a:noFill/>
        </p:spPr>
        <p:txBody>
          <a:bodyPr wrap="square">
            <a:spAutoFit/>
          </a:bodyPr>
          <a:lstStyle/>
          <a:p>
            <a:pPr>
              <a:spcAft>
                <a:spcPts val="1200"/>
              </a:spcAft>
              <a:defRPr sz="1600" b="0">
                <a:solidFill>
                  <a:srgbClr val="102A43"/>
                </a:solidFill>
                <a:latin typeface="Arial"/>
              </a:defRPr>
            </a:pPr>
            <a:r>
              <a:t>Phù hợp định hướng / cần cấu hình / cần khảo sát • người phụ trách • ngày hẹn</a:t>
            </a:r>
          </a:p>
        </p:txBody>
      </p:sp>
      <p:sp>
        <p:nvSpPr>
          <p:cNvPr id="24" name="TextBox 23"/>
          <p:cNvSpPr txBox="1"/>
          <p:nvPr/>
        </p:nvSpPr>
        <p:spPr>
          <a:xfrm>
            <a:off x="594360" y="5733288"/>
            <a:ext cx="10972800" cy="438912"/>
          </a:xfrm>
          <a:prstGeom prst="rect">
            <a:avLst/>
          </a:prstGeom>
          <a:noFill/>
        </p:spPr>
        <p:txBody>
          <a:bodyPr wrap="square">
            <a:spAutoFit/>
          </a:bodyPr>
          <a:lstStyle/>
          <a:p>
            <a:pPr>
              <a:spcAft>
                <a:spcPts val="1200"/>
              </a:spcAft>
              <a:defRPr sz="1600" b="1">
                <a:solidFill>
                  <a:srgbClr val="007F82"/>
                </a:solidFill>
                <a:latin typeface="Arial"/>
              </a:defRPr>
            </a:pPr>
            <a:r>
              <a:t>Gắn nhãn: Đã xác nhận / Khách hàng ước lượng / Giả thuyết của sales.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Kết thúc bằng một cam kết cụ thể</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14</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XÁC NHẬN LẠI</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“Đơn vị ưu tiên [vấn đề], đang gây [tác động], mong muốn [kết quả]. Em hiểu vậy đã đúng chưa?”</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HẸN BƯỚC TIẾP</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Xin quy trình / báo cáo mẫu phù hợp.</a:t>
            </a:r>
          </a:p>
          <a:p>
            <a:pPr>
              <a:spcAft>
                <a:spcPts val="1200"/>
              </a:spcAft>
              <a:defRPr sz="1800" b="0">
                <a:solidFill>
                  <a:srgbClr val="102A43"/>
                </a:solidFill>
                <a:latin typeface="Arial"/>
              </a:defRPr>
            </a:pPr>
            <a:r>
              <a:t>Mời đầu mối còn thiếu.</a:t>
            </a:r>
          </a:p>
          <a:p>
            <a:pPr>
              <a:spcAft>
                <a:spcPts val="1200"/>
              </a:spcAft>
              <a:defRPr sz="1800" b="0">
                <a:solidFill>
                  <a:srgbClr val="102A43"/>
                </a:solidFill>
                <a:latin typeface="Arial"/>
              </a:defRPr>
            </a:pPr>
            <a:r>
              <a:t>Hẹn khảo sát sâu hoặc demo theo tình huống đã xác nhận.</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BÀN GIAO NỘI BỘ</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Một trang tóm tắt cơ hội.</a:t>
            </a:r>
          </a:p>
          <a:p>
            <a:pPr>
              <a:spcAft>
                <a:spcPts val="1200"/>
              </a:spcAft>
              <a:defRPr sz="1800" b="0">
                <a:solidFill>
                  <a:srgbClr val="102A43"/>
                </a:solidFill>
                <a:latin typeface="Arial"/>
              </a:defRPr>
            </a:pPr>
            <a:r>
              <a:t>Top 3 pain point và bằng chứng.</a:t>
            </a:r>
          </a:p>
          <a:p>
            <a:pPr>
              <a:spcAft>
                <a:spcPts val="1200"/>
              </a:spcAft>
              <a:defRPr sz="1800" b="0">
                <a:solidFill>
                  <a:srgbClr val="102A43"/>
                </a:solidFill>
                <a:latin typeface="Arial"/>
              </a:defRPr>
            </a:pPr>
            <a:r>
              <a:t>Điểm cần xác minh.</a:t>
            </a:r>
          </a:p>
          <a:p>
            <a:pPr>
              <a:spcAft>
                <a:spcPts val="1200"/>
              </a:spcAft>
              <a:defRPr sz="1800" b="0">
                <a:solidFill>
                  <a:srgbClr val="102A43"/>
                </a:solidFill>
                <a:latin typeface="Arial"/>
              </a:defRPr>
            </a:pPr>
            <a:r>
              <a:t>Người phụ trách và ngày hẹn.</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Bán hàng bắt đầu từ việc hiểu công việc khách hàng cần hoàn thành.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320040"/>
          </a:xfrm>
          <a:prstGeom prst="rect">
            <a:avLst/>
          </a:prstGeom>
          <a:noFill/>
        </p:spPr>
        <p:txBody>
          <a:bodyPr wrap="square">
            <a:spAutoFit/>
          </a:bodyPr>
          <a:lstStyle/>
          <a:p>
            <a:pPr>
              <a:spcAft>
                <a:spcPts val="1200"/>
              </a:spcAft>
              <a:defRPr sz="1100" b="1">
                <a:solidFill>
                  <a:srgbClr val="007F82"/>
                </a:solidFill>
                <a:latin typeface="Arial"/>
              </a:defRPr>
            </a:pPr>
            <a:r>
              <a:t>SALES DISCOVERY</a:t>
            </a:r>
          </a:p>
        </p:txBody>
      </p:sp>
      <p:sp>
        <p:nvSpPr>
          <p:cNvPr id="4" name="TextBox 3"/>
          <p:cNvSpPr txBox="1"/>
          <p:nvPr/>
        </p:nvSpPr>
        <p:spPr>
          <a:xfrm>
            <a:off x="502920" y="758952"/>
            <a:ext cx="11064240" cy="777240"/>
          </a:xfrm>
          <a:prstGeom prst="rect">
            <a:avLst/>
          </a:prstGeom>
          <a:noFill/>
        </p:spPr>
        <p:txBody>
          <a:bodyPr wrap="square">
            <a:spAutoFit/>
          </a:bodyPr>
          <a:lstStyle/>
          <a:p>
            <a:pPr>
              <a:spcAft>
                <a:spcPts val="1200"/>
              </a:spcAft>
              <a:defRPr sz="3000" b="1">
                <a:solidFill>
                  <a:srgbClr val="102A43"/>
                </a:solidFill>
                <a:latin typeface="Arial"/>
              </a:defRPr>
            </a:pPr>
            <a:r>
              <a:t>Cẩm nang nhanh cho sales</a:t>
            </a:r>
          </a:p>
        </p:txBody>
      </p:sp>
      <p:sp>
        <p:nvSpPr>
          <p:cNvPr id="5" name="Rectangle 4"/>
          <p:cNvSpPr/>
          <p:nvPr/>
        </p:nvSpPr>
        <p:spPr>
          <a:xfrm>
            <a:off x="548640" y="6382512"/>
            <a:ext cx="11064240" cy="13716"/>
          </a:xfrm>
          <a:prstGeom prst="rect">
            <a:avLst/>
          </a:prstGeom>
          <a:solidFill>
            <a:srgbClr val="DC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10058400" cy="228600"/>
          </a:xfrm>
          <a:prstGeom prst="rect">
            <a:avLst/>
          </a:prstGeom>
          <a:noFill/>
        </p:spPr>
        <p:txBody>
          <a:bodyPr wrap="square">
            <a:spAutoFit/>
          </a:bodyPr>
          <a:lstStyle/>
          <a:p>
            <a:pPr>
              <a:spcAft>
                <a:spcPts val="1200"/>
              </a:spcAft>
              <a:defRPr sz="900" b="0">
                <a:solidFill>
                  <a:srgbClr val="526577"/>
                </a:solidFill>
                <a:latin typeface="Arial"/>
              </a:defRPr>
            </a:pPr>
            <a:r>
              <a:t>RMS  /  QUẢN LÝ NGHIÊN CỨU KHOA HỌC  •  TÀI LIỆU NỘI BỘ SALES</a:t>
            </a:r>
          </a:p>
        </p:txBody>
      </p:sp>
      <p:sp>
        <p:nvSpPr>
          <p:cNvPr id="7" name="TextBox 6"/>
          <p:cNvSpPr txBox="1"/>
          <p:nvPr/>
        </p:nvSpPr>
        <p:spPr>
          <a:xfrm>
            <a:off x="10972800" y="6446520"/>
            <a:ext cx="548640" cy="274320"/>
          </a:xfrm>
          <a:prstGeom prst="rect">
            <a:avLst/>
          </a:prstGeom>
          <a:noFill/>
        </p:spPr>
        <p:txBody>
          <a:bodyPr wrap="square">
            <a:spAutoFit/>
          </a:bodyPr>
          <a:lstStyle/>
          <a:p>
            <a:pPr>
              <a:spcAft>
                <a:spcPts val="1200"/>
              </a:spcAft>
              <a:defRPr sz="1100" b="0">
                <a:solidFill>
                  <a:srgbClr val="526577"/>
                </a:solidFill>
                <a:latin typeface="Arial"/>
              </a:defRPr>
            </a:pPr>
            <a:r>
              <a:t>15</a:t>
            </a:r>
          </a:p>
        </p:txBody>
      </p:sp>
      <p:sp>
        <p:nvSpPr>
          <p:cNvPr id="8" name="Rectangle 7"/>
          <p:cNvSpPr/>
          <p:nvPr/>
        </p:nvSpPr>
        <p:spPr>
          <a:xfrm>
            <a:off x="548640"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HỎI TRUNG LẬP</a:t>
            </a:r>
          </a:p>
        </p:txBody>
      </p:sp>
      <p:sp>
        <p:nvSpPr>
          <p:cNvPr id="11" name="TextBox 10"/>
          <p:cNvSpPr txBox="1"/>
          <p:nvPr/>
        </p:nvSpPr>
        <p:spPr>
          <a:xfrm>
            <a:off x="731520"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Thay “Excel rất khó đúng không?” bằng:</a:t>
            </a:r>
          </a:p>
          <a:p>
            <a:pPr>
              <a:spcAft>
                <a:spcPts val="1200"/>
              </a:spcAft>
              <a:defRPr sz="1800" b="0">
                <a:solidFill>
                  <a:srgbClr val="102A43"/>
                </a:solidFill>
                <a:latin typeface="Arial"/>
              </a:defRPr>
            </a:pPr>
            <a:r>
              <a:t>“Excel hỗ trợ tốt phần nào, phần nào phải làm thêm?”</a:t>
            </a:r>
          </a:p>
        </p:txBody>
      </p:sp>
      <p:sp>
        <p:nvSpPr>
          <p:cNvPr id="12" name="Rectangle 11"/>
          <p:cNvSpPr/>
          <p:nvPr/>
        </p:nvSpPr>
        <p:spPr>
          <a:xfrm>
            <a:off x="4309872"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240280"/>
            <a:ext cx="3541775" cy="502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2752"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CHUẨN BỊ ĐỦ</a:t>
            </a:r>
          </a:p>
        </p:txBody>
      </p:sp>
      <p:sp>
        <p:nvSpPr>
          <p:cNvPr id="15" name="TextBox 14"/>
          <p:cNvSpPr txBox="1"/>
          <p:nvPr/>
        </p:nvSpPr>
        <p:spPr>
          <a:xfrm>
            <a:off x="4492752"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Phiếu khảo sát trước hẹn.</a:t>
            </a:r>
          </a:p>
          <a:p>
            <a:pPr>
              <a:spcAft>
                <a:spcPts val="1200"/>
              </a:spcAft>
              <a:defRPr sz="1800" b="0">
                <a:solidFill>
                  <a:srgbClr val="102A43"/>
                </a:solidFill>
                <a:latin typeface="Arial"/>
              </a:defRPr>
            </a:pPr>
            <a:r>
              <a:t>Mẫu ghi nhận phỏng vấn.</a:t>
            </a:r>
          </a:p>
          <a:p>
            <a:pPr>
              <a:spcAft>
                <a:spcPts val="1200"/>
              </a:spcAft>
              <a:defRPr sz="1800" b="0">
                <a:solidFill>
                  <a:srgbClr val="102A43"/>
                </a:solidFill>
                <a:latin typeface="Arial"/>
              </a:defRPr>
            </a:pPr>
            <a:r>
              <a:t>Bảng năng lực: sẵn sàng / đang phát triển / định hướng.</a:t>
            </a:r>
          </a:p>
        </p:txBody>
      </p:sp>
      <p:sp>
        <p:nvSpPr>
          <p:cNvPr id="16" name="Rectangle 15"/>
          <p:cNvSpPr/>
          <p:nvPr/>
        </p:nvSpPr>
        <p:spPr>
          <a:xfrm>
            <a:off x="8071104" y="2240280"/>
            <a:ext cx="3541775" cy="3429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240280"/>
            <a:ext cx="3541775" cy="50292"/>
          </a:xfrm>
          <a:prstGeom prst="rect">
            <a:avLst/>
          </a:prstGeom>
          <a:solidFill>
            <a:srgbClr val="176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3983" y="2468880"/>
            <a:ext cx="3176016" cy="594360"/>
          </a:xfrm>
          <a:prstGeom prst="rect">
            <a:avLst/>
          </a:prstGeom>
          <a:noFill/>
        </p:spPr>
        <p:txBody>
          <a:bodyPr wrap="square">
            <a:spAutoFit/>
          </a:bodyPr>
          <a:lstStyle/>
          <a:p>
            <a:pPr>
              <a:spcAft>
                <a:spcPts val="1200"/>
              </a:spcAft>
              <a:defRPr sz="2100" b="1">
                <a:solidFill>
                  <a:srgbClr val="1769E0"/>
                </a:solidFill>
                <a:latin typeface="Arial"/>
              </a:defRPr>
            </a:pPr>
            <a:r>
              <a:t>DEMO CÓ MỤC TIÊU</a:t>
            </a:r>
          </a:p>
        </p:txBody>
      </p:sp>
      <p:sp>
        <p:nvSpPr>
          <p:cNvPr id="19" name="TextBox 18"/>
          <p:cNvSpPr txBox="1"/>
          <p:nvPr/>
        </p:nvSpPr>
        <p:spPr>
          <a:xfrm>
            <a:off x="8253983" y="3182112"/>
            <a:ext cx="3176016" cy="2331720"/>
          </a:xfrm>
          <a:prstGeom prst="rect">
            <a:avLst/>
          </a:prstGeom>
          <a:noFill/>
        </p:spPr>
        <p:txBody>
          <a:bodyPr wrap="square">
            <a:spAutoFit/>
          </a:bodyPr>
          <a:lstStyle/>
          <a:p>
            <a:pPr>
              <a:spcAft>
                <a:spcPts val="1200"/>
              </a:spcAft>
              <a:defRPr sz="1800" b="0">
                <a:solidFill>
                  <a:srgbClr val="102A43"/>
                </a:solidFill>
                <a:latin typeface="Arial"/>
              </a:defRPr>
            </a:pPr>
            <a:r>
              <a:t>Chọn tình huống khách hàng đã xác nhận.</a:t>
            </a:r>
          </a:p>
          <a:p>
            <a:pPr>
              <a:spcAft>
                <a:spcPts val="1200"/>
              </a:spcAft>
              <a:defRPr sz="1800" b="0">
                <a:solidFill>
                  <a:srgbClr val="102A43"/>
                </a:solidFill>
                <a:latin typeface="Arial"/>
              </a:defRPr>
            </a:pPr>
            <a:r>
              <a:t>Đối chiếu tiêu chí thành công.</a:t>
            </a:r>
          </a:p>
          <a:p>
            <a:pPr>
              <a:spcAft>
                <a:spcPts val="1200"/>
              </a:spcAft>
              <a:defRPr sz="1800" b="0">
                <a:solidFill>
                  <a:srgbClr val="102A43"/>
                </a:solidFill>
                <a:latin typeface="Arial"/>
              </a:defRPr>
            </a:pPr>
            <a:r>
              <a:t>Ghi nhận khoảng trống để đội sản phẩm đánh giá.</a:t>
            </a:r>
          </a:p>
        </p:txBody>
      </p:sp>
      <p:sp>
        <p:nvSpPr>
          <p:cNvPr id="20" name="TextBox 19"/>
          <p:cNvSpPr txBox="1"/>
          <p:nvPr/>
        </p:nvSpPr>
        <p:spPr>
          <a:xfrm>
            <a:off x="566928" y="5815584"/>
            <a:ext cx="10972800" cy="457200"/>
          </a:xfrm>
          <a:prstGeom prst="rect">
            <a:avLst/>
          </a:prstGeom>
          <a:noFill/>
        </p:spPr>
        <p:txBody>
          <a:bodyPr wrap="square">
            <a:spAutoFit/>
          </a:bodyPr>
          <a:lstStyle/>
          <a:p>
            <a:pPr>
              <a:spcAft>
                <a:spcPts val="1200"/>
              </a:spcAft>
              <a:defRPr sz="1400" b="1">
                <a:solidFill>
                  <a:srgbClr val="007F82"/>
                </a:solidFill>
                <a:latin typeface="Arial"/>
              </a:defRPr>
            </a:pPr>
            <a:r>
              <a:t>Cơ sở nội dung: docs/product/vision.md • personas.md • roadmap.md | Bản đề xuất 18/09/2026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