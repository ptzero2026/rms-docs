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924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1800" y="254000"/>
            <a:ext cx="1193800" cy="3403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80"/>
              </a:lnSpc>
              <a:spcAft>
                <a:spcPts val="0"/>
              </a:spcAft>
              <a:defRPr sz="1600" b="1">
                <a:solidFill>
                  <a:srgbClr val="FFFFFF"/>
                </a:solidFill>
                <a:latin typeface="Be Vietnam Pro"/>
              </a:defRPr>
            </a:pPr>
            <a:r>
              <a:t>RMS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78000" y="304800"/>
            <a:ext cx="9575800" cy="2247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70"/>
              </a:lnSpc>
              <a:spcAft>
                <a:spcPts val="0"/>
              </a:spcAft>
              <a:defRPr sz="900" b="1">
                <a:solidFill>
                  <a:srgbClr val="BAC7FF"/>
                </a:solidFill>
                <a:latin typeface="Be Vietnam Pro"/>
              </a:defRPr>
            </a:pPr>
            <a:r>
              <a:t>BẢN CHÀO GIẢI PHÁP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1800" y="6553200"/>
            <a:ext cx="10210800" cy="2082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40"/>
              </a:lnSpc>
              <a:spcAft>
                <a:spcPts val="0"/>
              </a:spcAft>
              <a:defRPr sz="800" b="0">
                <a:solidFill>
                  <a:srgbClr val="B4C1EC"/>
                </a:solidFill>
                <a:latin typeface="Be Vietnam Pro"/>
              </a:defRPr>
            </a:pPr>
            <a:r>
              <a:t>RMS / GIẢI PHÁP QUẢN LÝ NGHIÊN CỨU KHOA HỌC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6500" y="6515100"/>
            <a:ext cx="495300" cy="2578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30"/>
              </a:lnSpc>
              <a:spcAft>
                <a:spcPts val="0"/>
              </a:spcAft>
              <a:defRPr sz="1100" b="1">
                <a:solidFill>
                  <a:srgbClr val="FFFFFF"/>
                </a:solidFill>
                <a:latin typeface="Be Vietnam Pro"/>
              </a:defRPr>
            </a:pPr>
            <a:r>
              <a:t>01</a:t>
            </a:r>
          </a:p>
        </p:txBody>
      </p:sp>
      <p:sp>
        <p:nvSpPr>
          <p:cNvPr id="7" name="Rectangle 6"/>
          <p:cNvSpPr/>
          <p:nvPr/>
        </p:nvSpPr>
        <p:spPr>
          <a:xfrm>
            <a:off x="8445500" y="0"/>
            <a:ext cx="3746500" cy="6350000"/>
          </a:xfrm>
          <a:prstGeom prst="rect">
            <a:avLst/>
          </a:prstGeom>
          <a:solidFill>
            <a:srgbClr val="465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1800" y="1130300"/>
            <a:ext cx="7416800" cy="14300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5330"/>
              </a:lnSpc>
              <a:spcAft>
                <a:spcPts val="0"/>
              </a:spcAft>
              <a:defRPr sz="4100" b="1">
                <a:solidFill>
                  <a:srgbClr val="FFFFFF"/>
                </a:solidFill>
                <a:latin typeface="Be Vietnam Pro"/>
              </a:defRPr>
            </a:pPr>
            <a:r>
              <a:t>Kết nối nghiên cứu.</a:t>
            </a:r>
          </a:p>
          <a:p>
            <a:pPr>
              <a:lnSpc>
                <a:spcPts val="5330"/>
              </a:lnSpc>
              <a:spcAft>
                <a:spcPts val="0"/>
              </a:spcAft>
              <a:defRPr sz="4100" b="1">
                <a:solidFill>
                  <a:srgbClr val="FFFFFF"/>
                </a:solidFill>
                <a:latin typeface="Be Vietnam Pro"/>
              </a:defRPr>
            </a:pPr>
            <a:r>
              <a:t>Nâng tầm quản trị.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28900"/>
            <a:ext cx="7797800" cy="35687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10"/>
              </a:lnSpc>
              <a:spcAft>
                <a:spcPts val="0"/>
              </a:spcAft>
              <a:defRPr sz="1700" b="0">
                <a:solidFill>
                  <a:srgbClr val="D3DDFF"/>
                </a:solidFill>
                <a:latin typeface="Be Vietnam Pro"/>
              </a:defRPr>
            </a:pPr>
            <a:r>
              <a:t>Hồ sơ • Tiến độ • Kinh phí • Thành quả</a:t>
            </a:r>
          </a:p>
        </p:txBody>
      </p:sp>
      <p:pic>
        <p:nvPicPr>
          <p:cNvPr id="10" name="Picture 9" descr="page-07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500" y="3086100"/>
            <a:ext cx="6985000" cy="3317875"/>
          </a:xfrm>
          <a:prstGeom prst="rect">
            <a:avLst/>
          </a:prstGeom>
        </p:spPr>
      </p:pic>
      <p:pic>
        <p:nvPicPr>
          <p:cNvPr id="11" name="Picture 10" descr="RMS-Mobi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29700" y="2641600"/>
            <a:ext cx="3009900" cy="17145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410700" y="4686300"/>
            <a:ext cx="2654300" cy="7200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90"/>
              </a:lnSpc>
              <a:spcAft>
                <a:spcPts val="0"/>
              </a:spcAft>
              <a:defRPr sz="1300" b="1">
                <a:solidFill>
                  <a:srgbClr val="FFFFFF"/>
                </a:solidFill>
                <a:latin typeface="Be Vietnam Pro"/>
              </a:defRPr>
            </a:pPr>
            <a:r>
              <a:t>SỞ, BAN, NGÀNH</a:t>
            </a:r>
          </a:p>
          <a:p>
            <a:pPr>
              <a:lnSpc>
                <a:spcPts val="1690"/>
              </a:lnSpc>
              <a:spcAft>
                <a:spcPts val="0"/>
              </a:spcAft>
              <a:defRPr sz="1300" b="1">
                <a:solidFill>
                  <a:srgbClr val="FFFFFF"/>
                </a:solidFill>
                <a:latin typeface="Be Vietnam Pro"/>
              </a:defRPr>
            </a:pPr>
            <a:r>
              <a:t>TRƯỜNG ĐẠI HỌC</a:t>
            </a:r>
          </a:p>
          <a:p>
            <a:pPr>
              <a:lnSpc>
                <a:spcPts val="1690"/>
              </a:lnSpc>
              <a:spcAft>
                <a:spcPts val="0"/>
              </a:spcAft>
              <a:defRPr sz="1300" b="1">
                <a:solidFill>
                  <a:srgbClr val="FFFFFF"/>
                </a:solidFill>
                <a:latin typeface="Be Vietnam Pro"/>
              </a:defRPr>
            </a:pPr>
            <a:r>
              <a:t>BỆNH VIỆN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1800" y="254000"/>
            <a:ext cx="1193800" cy="3403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80"/>
              </a:lnSpc>
              <a:spcAft>
                <a:spcPts val="0"/>
              </a:spcAft>
              <a:defRPr sz="1600" b="1">
                <a:solidFill>
                  <a:srgbClr val="465FFF"/>
                </a:solidFill>
                <a:latin typeface="Be Vietnam Pro"/>
              </a:defRPr>
            </a:pPr>
            <a:r>
              <a:t>RMS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78000" y="304800"/>
            <a:ext cx="9575800" cy="2247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70"/>
              </a:lnSpc>
              <a:spcAft>
                <a:spcPts val="0"/>
              </a:spcAft>
              <a:defRPr sz="900" b="1">
                <a:solidFill>
                  <a:srgbClr val="71809E"/>
                </a:solidFill>
                <a:latin typeface="Be Vietnam Pro"/>
              </a:defRPr>
            </a:pPr>
            <a:r>
              <a:t>GIÁ TRỊ QUẢN TRỊ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1800" y="812800"/>
            <a:ext cx="11226800" cy="571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900"/>
              </a:lnSpc>
              <a:spcAft>
                <a:spcPts val="0"/>
              </a:spcAft>
              <a:defRPr sz="3000" b="1">
                <a:solidFill>
                  <a:srgbClr val="192453"/>
                </a:solidFill>
                <a:latin typeface="Be Vietnam Pro"/>
              </a:defRPr>
            </a:pPr>
            <a:r>
              <a:t>Ít tổng hợp thủ công. Nhiều thời gian cho nghiên cứu.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4500" y="1409700"/>
            <a:ext cx="11226800" cy="2908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90"/>
              </a:lnSpc>
              <a:spcAft>
                <a:spcPts val="0"/>
              </a:spcAft>
              <a:defRPr sz="1300" b="0">
                <a:solidFill>
                  <a:srgbClr val="71809E"/>
                </a:solidFill>
                <a:latin typeface="Be Vietnam Pro"/>
              </a:defRPr>
            </a:pPr>
            <a:r>
              <a:t>Một nền tảng kết nối người quản lý, nhà khoa học và hội đồng.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1800" y="6553200"/>
            <a:ext cx="10210800" cy="2082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40"/>
              </a:lnSpc>
              <a:spcAft>
                <a:spcPts val="0"/>
              </a:spcAft>
              <a:defRPr sz="800" b="0">
                <a:solidFill>
                  <a:srgbClr val="71809E"/>
                </a:solidFill>
                <a:latin typeface="Be Vietnam Pro"/>
              </a:defRPr>
            </a:pPr>
            <a:r>
              <a:t>RMS / GIẢI PHÁP QUẢN LÝ NGHIÊN CỨU KHOA HỌC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66500" y="6515100"/>
            <a:ext cx="495300" cy="2578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30"/>
              </a:lnSpc>
              <a:spcAft>
                <a:spcPts val="0"/>
              </a:spcAft>
              <a:defRPr sz="1100" b="1">
                <a:solidFill>
                  <a:srgbClr val="465FFF"/>
                </a:solidFill>
                <a:latin typeface="Be Vietnam Pro"/>
              </a:defRPr>
            </a:pPr>
            <a:r>
              <a:t>02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1800" y="2324100"/>
            <a:ext cx="3657600" cy="3403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8500" y="2565400"/>
            <a:ext cx="3098800" cy="8686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6240"/>
              </a:lnSpc>
              <a:spcAft>
                <a:spcPts val="0"/>
              </a:spcAft>
              <a:defRPr sz="4800" b="1">
                <a:solidFill>
                  <a:srgbClr val="465FFF"/>
                </a:solidFill>
                <a:latin typeface="Be Vietnam Pro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" y="3568700"/>
            <a:ext cx="3200400" cy="455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990"/>
              </a:lnSpc>
              <a:spcAft>
                <a:spcPts val="0"/>
              </a:spcAft>
              <a:defRPr sz="2300" b="1">
                <a:solidFill>
                  <a:srgbClr val="192453"/>
                </a:solidFill>
                <a:latin typeface="Be Vietnam Pro"/>
              </a:defRPr>
            </a:pPr>
            <a:r>
              <a:t>Tập trung hồ sơ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8500" y="4203700"/>
            <a:ext cx="3124200" cy="9182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10"/>
              </a:lnSpc>
              <a:spcAft>
                <a:spcPts val="0"/>
              </a:spcAft>
              <a:defRPr sz="1700" b="0">
                <a:solidFill>
                  <a:srgbClr val="71809E"/>
                </a:solidFill>
                <a:latin typeface="Be Vietnam Pro"/>
              </a:defRPr>
            </a:pPr>
            <a:r>
              <a:t>Tra cứu thông tin và minh</a:t>
            </a:r>
          </a:p>
          <a:p>
            <a:pPr>
              <a:lnSpc>
                <a:spcPts val="2210"/>
              </a:lnSpc>
              <a:spcAft>
                <a:spcPts val="0"/>
              </a:spcAft>
              <a:defRPr sz="1700" b="0">
                <a:solidFill>
                  <a:srgbClr val="71809E"/>
                </a:solidFill>
                <a:latin typeface="Be Vietnam Pro"/>
              </a:defRPr>
            </a:pPr>
            <a:r>
              <a:t>chứng trên cùng nguồn dữ</a:t>
            </a:r>
          </a:p>
          <a:p>
            <a:pPr>
              <a:lnSpc>
                <a:spcPts val="2210"/>
              </a:lnSpc>
              <a:spcAft>
                <a:spcPts val="0"/>
              </a:spcAft>
              <a:defRPr sz="1700" b="0">
                <a:solidFill>
                  <a:srgbClr val="71809E"/>
                </a:solidFill>
                <a:latin typeface="Be Vietnam Pro"/>
              </a:defRPr>
            </a:pPr>
            <a:r>
              <a:t>liệu.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54500" y="2324100"/>
            <a:ext cx="3657600" cy="3403600"/>
          </a:xfrm>
          <a:prstGeom prst="roundRect">
            <a:avLst>
              <a:gd name="adj" fmla="val 8000"/>
            </a:avLst>
          </a:prstGeom>
          <a:solidFill>
            <a:srgbClr val="465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1200" y="2565400"/>
            <a:ext cx="3098800" cy="8686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6240"/>
              </a:lnSpc>
              <a:spcAft>
                <a:spcPts val="0"/>
              </a:spcAft>
              <a:defRPr sz="4800" b="1">
                <a:solidFill>
                  <a:srgbClr val="FFFFFF"/>
                </a:solidFill>
                <a:latin typeface="Be Vietnam Pro"/>
              </a:defRPr>
            </a:pPr>
            <a: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1200" y="3568700"/>
            <a:ext cx="3200400" cy="455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990"/>
              </a:lnSpc>
              <a:spcAft>
                <a:spcPts val="0"/>
              </a:spcAft>
              <a:defRPr sz="2300" b="1">
                <a:solidFill>
                  <a:srgbClr val="FFFFFF"/>
                </a:solidFill>
                <a:latin typeface="Be Vietnam Pro"/>
              </a:defRPr>
            </a:pPr>
            <a:r>
              <a:t>Rõ tiến độ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1200" y="4203700"/>
            <a:ext cx="3124200" cy="6375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10"/>
              </a:lnSpc>
              <a:spcAft>
                <a:spcPts val="0"/>
              </a:spcAft>
              <a:defRPr sz="1700" b="0">
                <a:solidFill>
                  <a:srgbClr val="FFFFFF"/>
                </a:solidFill>
                <a:latin typeface="Be Vietnam Pro"/>
              </a:defRPr>
            </a:pPr>
            <a:r>
              <a:t>Nắm mốc hạn, việc cần làm</a:t>
            </a:r>
          </a:p>
          <a:p>
            <a:pPr>
              <a:lnSpc>
                <a:spcPts val="2210"/>
              </a:lnSpc>
              <a:spcAft>
                <a:spcPts val="0"/>
              </a:spcAft>
              <a:defRPr sz="1700" b="0">
                <a:solidFill>
                  <a:srgbClr val="FFFFFF"/>
                </a:solidFill>
                <a:latin typeface="Be Vietnam Pro"/>
              </a:defRPr>
            </a:pPr>
            <a:r>
              <a:t>và trách nhiệm xử lý.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77200" y="2324100"/>
            <a:ext cx="3657600" cy="3403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43900" y="2565400"/>
            <a:ext cx="3098800" cy="8686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6240"/>
              </a:lnSpc>
              <a:spcAft>
                <a:spcPts val="0"/>
              </a:spcAft>
              <a:defRPr sz="4800" b="1">
                <a:solidFill>
                  <a:srgbClr val="465FFF"/>
                </a:solidFill>
                <a:latin typeface="Be Vietnam Pro"/>
              </a:defRPr>
            </a:pPr>
            <a: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43900" y="3568700"/>
            <a:ext cx="3200400" cy="455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990"/>
              </a:lnSpc>
              <a:spcAft>
                <a:spcPts val="0"/>
              </a:spcAft>
              <a:defRPr sz="2300" b="1">
                <a:solidFill>
                  <a:srgbClr val="192453"/>
                </a:solidFill>
                <a:latin typeface="Be Vietnam Pro"/>
              </a:defRPr>
            </a:pPr>
            <a:r>
              <a:t>Thấy kết quả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43900" y="4203700"/>
            <a:ext cx="3124200" cy="6375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10"/>
              </a:lnSpc>
              <a:spcAft>
                <a:spcPts val="0"/>
              </a:spcAft>
              <a:defRPr sz="1700" b="0">
                <a:solidFill>
                  <a:srgbClr val="71809E"/>
                </a:solidFill>
                <a:latin typeface="Be Vietnam Pro"/>
              </a:defRPr>
            </a:pPr>
            <a:r>
              <a:t>Gắn đề tài với kinh phí, sản</a:t>
            </a:r>
          </a:p>
          <a:p>
            <a:pPr>
              <a:lnSpc>
                <a:spcPts val="2210"/>
              </a:lnSpc>
              <a:spcAft>
                <a:spcPts val="0"/>
              </a:spcAft>
              <a:defRPr sz="1700" b="0">
                <a:solidFill>
                  <a:srgbClr val="71809E"/>
                </a:solidFill>
                <a:latin typeface="Be Vietnam Pro"/>
              </a:defRPr>
            </a:pPr>
            <a:r>
              <a:t>phẩm và nhà nghiên cứu.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1800" y="254000"/>
            <a:ext cx="1193800" cy="3403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80"/>
              </a:lnSpc>
              <a:spcAft>
                <a:spcPts val="0"/>
              </a:spcAft>
              <a:defRPr sz="1600" b="1">
                <a:solidFill>
                  <a:srgbClr val="465FFF"/>
                </a:solidFill>
                <a:latin typeface="Be Vietnam Pro"/>
              </a:defRPr>
            </a:pPr>
            <a:r>
              <a:t>RMS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78000" y="304800"/>
            <a:ext cx="9575800" cy="2247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70"/>
              </a:lnSpc>
              <a:spcAft>
                <a:spcPts val="0"/>
              </a:spcAft>
              <a:defRPr sz="900" b="1">
                <a:solidFill>
                  <a:srgbClr val="71809E"/>
                </a:solidFill>
                <a:latin typeface="Be Vietnam Pro"/>
              </a:defRPr>
            </a:pPr>
            <a:r>
              <a:t>MỘT VÒNG ĐỜI THỐNG NHẤT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1800" y="812800"/>
            <a:ext cx="11226800" cy="571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900"/>
              </a:lnSpc>
              <a:spcAft>
                <a:spcPts val="0"/>
              </a:spcAft>
              <a:defRPr sz="3000" b="1">
                <a:solidFill>
                  <a:srgbClr val="192453"/>
                </a:solidFill>
                <a:latin typeface="Be Vietnam Pro"/>
              </a:defRPr>
            </a:pPr>
            <a:r>
              <a:t>Từ ý tưởng đến thành quả nghiên cứu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4500" y="1409700"/>
            <a:ext cx="11226800" cy="2908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90"/>
              </a:lnSpc>
              <a:spcAft>
                <a:spcPts val="0"/>
              </a:spcAft>
              <a:defRPr sz="1300" b="0">
                <a:solidFill>
                  <a:srgbClr val="71809E"/>
                </a:solidFill>
                <a:latin typeface="Be Vietnam Pro"/>
              </a:defRPr>
            </a:pPr>
            <a:r>
              <a:t>Mỗi bước có dữ liệu, người phụ trách và lịch sử xử lý.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1800" y="6553200"/>
            <a:ext cx="10210800" cy="2082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40"/>
              </a:lnSpc>
              <a:spcAft>
                <a:spcPts val="0"/>
              </a:spcAft>
              <a:defRPr sz="800" b="0">
                <a:solidFill>
                  <a:srgbClr val="71809E"/>
                </a:solidFill>
                <a:latin typeface="Be Vietnam Pro"/>
              </a:defRPr>
            </a:pPr>
            <a:r>
              <a:t>RMS / GIẢI PHÁP QUẢN LÝ NGHIÊN CỨU KHOA HỌC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66500" y="6515100"/>
            <a:ext cx="495300" cy="2578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30"/>
              </a:lnSpc>
              <a:spcAft>
                <a:spcPts val="0"/>
              </a:spcAft>
              <a:defRPr sz="1100" b="1">
                <a:solidFill>
                  <a:srgbClr val="465FFF"/>
                </a:solidFill>
                <a:latin typeface="Be Vietnam Pro"/>
              </a:defRPr>
            </a:pPr>
            <a:r>
              <a:t>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1800" y="2590800"/>
            <a:ext cx="2120900" cy="2171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7700" y="2794000"/>
            <a:ext cx="1727200" cy="68707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810"/>
              </a:lnSpc>
              <a:spcAft>
                <a:spcPts val="0"/>
              </a:spcAft>
              <a:defRPr sz="3700" b="1">
                <a:solidFill>
                  <a:srgbClr val="465FFF"/>
                </a:solidFill>
                <a:latin typeface="Be Vietnam Pro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7700" y="3556000"/>
            <a:ext cx="1828800" cy="35687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10"/>
              </a:lnSpc>
              <a:spcAft>
                <a:spcPts val="0"/>
              </a:spcAft>
              <a:defRPr sz="1700" b="1">
                <a:solidFill>
                  <a:srgbClr val="192453"/>
                </a:solidFill>
                <a:latin typeface="Be Vietnam Pro"/>
              </a:defRPr>
            </a:pPr>
            <a:r>
              <a:t>Tiếp nhận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7700" y="4064000"/>
            <a:ext cx="1828800" cy="2578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30"/>
              </a:lnSpc>
              <a:spcAft>
                <a:spcPts val="0"/>
              </a:spcAft>
              <a:defRPr sz="1100" b="0">
                <a:solidFill>
                  <a:srgbClr val="71809E"/>
                </a:solidFill>
                <a:latin typeface="Be Vietnam Pro"/>
              </a:defRPr>
            </a:pPr>
            <a:r>
              <a:t>Kỳ nhận đề xuất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30500" y="2590800"/>
            <a:ext cx="2120900" cy="2171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46400" y="2794000"/>
            <a:ext cx="1727200" cy="68707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810"/>
              </a:lnSpc>
              <a:spcAft>
                <a:spcPts val="0"/>
              </a:spcAft>
              <a:defRPr sz="3700" b="1">
                <a:solidFill>
                  <a:srgbClr val="465FFF"/>
                </a:solidFill>
                <a:latin typeface="Be Vietnam Pro"/>
              </a:defRPr>
            </a:pPr>
            <a: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46400" y="3556000"/>
            <a:ext cx="1828800" cy="35687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10"/>
              </a:lnSpc>
              <a:spcAft>
                <a:spcPts val="0"/>
              </a:spcAft>
              <a:defRPr sz="1700" b="1">
                <a:solidFill>
                  <a:srgbClr val="192453"/>
                </a:solidFill>
                <a:latin typeface="Be Vietnam Pro"/>
              </a:defRPr>
            </a:pPr>
            <a:r>
              <a:t>Xét duyệt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46400" y="4064000"/>
            <a:ext cx="1828800" cy="2578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30"/>
              </a:lnSpc>
              <a:spcAft>
                <a:spcPts val="0"/>
              </a:spcAft>
              <a:defRPr sz="1100" b="0">
                <a:solidFill>
                  <a:srgbClr val="71809E"/>
                </a:solidFill>
                <a:latin typeface="Be Vietnam Pro"/>
              </a:defRPr>
            </a:pPr>
            <a:r>
              <a:t>Hồ sơ &amp; hội đồng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2590800"/>
            <a:ext cx="2120900" cy="2171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45100" y="2794000"/>
            <a:ext cx="1727200" cy="68707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810"/>
              </a:lnSpc>
              <a:spcAft>
                <a:spcPts val="0"/>
              </a:spcAft>
              <a:defRPr sz="3700" b="1">
                <a:solidFill>
                  <a:srgbClr val="465FFF"/>
                </a:solidFill>
                <a:latin typeface="Be Vietnam Pro"/>
              </a:defRPr>
            </a:pPr>
            <a: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45100" y="3556000"/>
            <a:ext cx="1828800" cy="35687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10"/>
              </a:lnSpc>
              <a:spcAft>
                <a:spcPts val="0"/>
              </a:spcAft>
              <a:defRPr sz="1700" b="1">
                <a:solidFill>
                  <a:srgbClr val="192453"/>
                </a:solidFill>
                <a:latin typeface="Be Vietnam Pro"/>
              </a:defRPr>
            </a:pPr>
            <a:r>
              <a:t>Thực hiện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45100" y="4064000"/>
            <a:ext cx="1828800" cy="2578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30"/>
              </a:lnSpc>
              <a:spcAft>
                <a:spcPts val="0"/>
              </a:spcAft>
              <a:defRPr sz="1100" b="0">
                <a:solidFill>
                  <a:srgbClr val="71809E"/>
                </a:solidFill>
                <a:latin typeface="Be Vietnam Pro"/>
              </a:defRPr>
            </a:pPr>
            <a:r>
              <a:t>Tiến độ &amp; kinh phí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27900" y="2590800"/>
            <a:ext cx="2120900" cy="2171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43800" y="2794000"/>
            <a:ext cx="1727200" cy="68707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810"/>
              </a:lnSpc>
              <a:spcAft>
                <a:spcPts val="0"/>
              </a:spcAft>
              <a:defRPr sz="3700" b="1">
                <a:solidFill>
                  <a:srgbClr val="465FFF"/>
                </a:solidFill>
                <a:latin typeface="Be Vietnam Pro"/>
              </a:defRPr>
            </a:pPr>
            <a: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43800" y="3556000"/>
            <a:ext cx="1828800" cy="35687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10"/>
              </a:lnSpc>
              <a:spcAft>
                <a:spcPts val="0"/>
              </a:spcAft>
              <a:defRPr sz="1700" b="1">
                <a:solidFill>
                  <a:srgbClr val="192453"/>
                </a:solidFill>
                <a:latin typeface="Be Vietnam Pro"/>
              </a:defRPr>
            </a:pPr>
            <a:r>
              <a:t>Nghiệm thu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43800" y="4064000"/>
            <a:ext cx="1828800" cy="2578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30"/>
              </a:lnSpc>
              <a:spcAft>
                <a:spcPts val="0"/>
              </a:spcAft>
              <a:defRPr sz="1100" b="0">
                <a:solidFill>
                  <a:srgbClr val="71809E"/>
                </a:solidFill>
                <a:latin typeface="Be Vietnam Pro"/>
              </a:defRPr>
            </a:pPr>
            <a:r>
              <a:t>Đánh giá kết quả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626600" y="2590800"/>
            <a:ext cx="2120900" cy="2171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42500" y="2794000"/>
            <a:ext cx="1727200" cy="68707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810"/>
              </a:lnSpc>
              <a:spcAft>
                <a:spcPts val="0"/>
              </a:spcAft>
              <a:defRPr sz="3700" b="1">
                <a:solidFill>
                  <a:srgbClr val="465FFF"/>
                </a:solidFill>
                <a:latin typeface="Be Vietnam Pro"/>
              </a:defRPr>
            </a:pPr>
            <a: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42500" y="3556000"/>
            <a:ext cx="1828800" cy="35687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10"/>
              </a:lnSpc>
              <a:spcAft>
                <a:spcPts val="0"/>
              </a:spcAft>
              <a:defRPr sz="1700" b="1">
                <a:solidFill>
                  <a:srgbClr val="192453"/>
                </a:solidFill>
                <a:latin typeface="Be Vietnam Pro"/>
              </a:defRPr>
            </a:pPr>
            <a:r>
              <a:t>Sản phẩm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42500" y="4064000"/>
            <a:ext cx="1828800" cy="2578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30"/>
              </a:lnSpc>
              <a:spcAft>
                <a:spcPts val="0"/>
              </a:spcAft>
              <a:defRPr sz="1100" b="0">
                <a:solidFill>
                  <a:srgbClr val="71809E"/>
                </a:solidFill>
                <a:latin typeface="Be Vietnam Pro"/>
              </a:defRPr>
            </a:pPr>
            <a:r>
              <a:t>Công bố &amp; lý lịch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31800" y="5156200"/>
            <a:ext cx="11328400" cy="749300"/>
          </a:xfrm>
          <a:prstGeom prst="roundRect">
            <a:avLst>
              <a:gd name="adj" fmla="val 8000"/>
            </a:avLst>
          </a:prstGeom>
          <a:solidFill>
            <a:srgbClr val="465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87400" y="5410200"/>
            <a:ext cx="10845800" cy="3403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80"/>
              </a:lnSpc>
              <a:spcAft>
                <a:spcPts val="0"/>
              </a:spcAft>
              <a:defRPr sz="1600" b="1">
                <a:solidFill>
                  <a:srgbClr val="FFFFFF"/>
                </a:solidFill>
                <a:latin typeface="Be Vietnam Pro"/>
              </a:defRPr>
            </a:pPr>
            <a:r>
              <a:t>PHÂN QUYỀN / THÔNG BÁO / NHẬT KÝ / BÁO CÁO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1800" y="254000"/>
            <a:ext cx="1193800" cy="3403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80"/>
              </a:lnSpc>
              <a:spcAft>
                <a:spcPts val="0"/>
              </a:spcAft>
              <a:defRPr sz="1600" b="1">
                <a:solidFill>
                  <a:srgbClr val="465FFF"/>
                </a:solidFill>
                <a:latin typeface="Be Vietnam Pro"/>
              </a:defRPr>
            </a:pPr>
            <a:r>
              <a:t>RMS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78000" y="304800"/>
            <a:ext cx="9575800" cy="2247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70"/>
              </a:lnSpc>
              <a:spcAft>
                <a:spcPts val="0"/>
              </a:spcAft>
              <a:defRPr sz="900" b="1">
                <a:solidFill>
                  <a:srgbClr val="71809E"/>
                </a:solidFill>
                <a:latin typeface="Be Vietnam Pro"/>
              </a:defRPr>
            </a:pPr>
            <a:r>
              <a:t>DESKTOP / ĐỢT ĐĂNG KÝ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1800" y="812800"/>
            <a:ext cx="11226800" cy="571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900"/>
              </a:lnSpc>
              <a:spcAft>
                <a:spcPts val="0"/>
              </a:spcAft>
              <a:defRPr sz="3000" b="1">
                <a:solidFill>
                  <a:srgbClr val="192453"/>
                </a:solidFill>
                <a:latin typeface="Be Vietnam Pro"/>
              </a:defRPr>
            </a:pPr>
            <a:r>
              <a:t>Mở đúng đợt. Rõ thời hạn. Đúng đối tượng.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4500" y="1409700"/>
            <a:ext cx="11226800" cy="2908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90"/>
              </a:lnSpc>
              <a:spcAft>
                <a:spcPts val="0"/>
              </a:spcAft>
              <a:defRPr sz="1300" b="0">
                <a:solidFill>
                  <a:srgbClr val="71809E"/>
                </a:solidFill>
                <a:latin typeface="Be Vietnam Pro"/>
              </a:defRPr>
            </a:pPr>
            <a:r>
              <a:t>Quản lý loại đề tài, năm học, thời gian đăng ký và hạn nộp nghiệm thu.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1800" y="6553200"/>
            <a:ext cx="10210800" cy="2082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40"/>
              </a:lnSpc>
              <a:spcAft>
                <a:spcPts val="0"/>
              </a:spcAft>
              <a:defRPr sz="800" b="0">
                <a:solidFill>
                  <a:srgbClr val="71809E"/>
                </a:solidFill>
                <a:latin typeface="Be Vietnam Pro"/>
              </a:defRPr>
            </a:pPr>
            <a:r>
              <a:t>RMS / GIẢI PHÁP QUẢN LÝ NGHIÊN CỨU KHOA HỌC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66500" y="6515100"/>
            <a:ext cx="495300" cy="2578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30"/>
              </a:lnSpc>
              <a:spcAft>
                <a:spcPts val="0"/>
              </a:spcAft>
              <a:defRPr sz="1100" b="1">
                <a:solidFill>
                  <a:srgbClr val="465FFF"/>
                </a:solidFill>
                <a:latin typeface="Be Vietnam Pro"/>
              </a:defRPr>
            </a:pPr>
            <a:r>
              <a:t>04</a:t>
            </a:r>
          </a:p>
        </p:txBody>
      </p:sp>
      <p:pic>
        <p:nvPicPr>
          <p:cNvPr id="9" name="Picture 8" descr="page-05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0884" y="1943100"/>
            <a:ext cx="8470231" cy="402336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431800" y="6057900"/>
            <a:ext cx="3657600" cy="317500"/>
          </a:xfrm>
          <a:prstGeom prst="roundRect">
            <a:avLst>
              <a:gd name="adj" fmla="val 8000"/>
            </a:avLst>
          </a:prstGeom>
          <a:solidFill>
            <a:srgbClr val="E8E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4200" y="6121400"/>
            <a:ext cx="3429000" cy="24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00"/>
              </a:lnSpc>
              <a:spcAft>
                <a:spcPts val="0"/>
              </a:spcAft>
              <a:defRPr sz="1000" b="1">
                <a:solidFill>
                  <a:srgbClr val="465FFF"/>
                </a:solidFill>
                <a:latin typeface="Be Vietnam Pro"/>
              </a:defRPr>
            </a:pPr>
            <a:r>
              <a:t>Mở / đóng đợt đăng ký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54500" y="6057900"/>
            <a:ext cx="3657600" cy="317500"/>
          </a:xfrm>
          <a:prstGeom prst="roundRect">
            <a:avLst>
              <a:gd name="adj" fmla="val 8000"/>
            </a:avLst>
          </a:prstGeom>
          <a:solidFill>
            <a:srgbClr val="E8E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06900" y="6121400"/>
            <a:ext cx="3429000" cy="24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00"/>
              </a:lnSpc>
              <a:spcAft>
                <a:spcPts val="0"/>
              </a:spcAft>
              <a:defRPr sz="1000" b="1">
                <a:solidFill>
                  <a:srgbClr val="465FFF"/>
                </a:solidFill>
                <a:latin typeface="Be Vietnam Pro"/>
              </a:defRPr>
            </a:pPr>
            <a:r>
              <a:t>Quy định số lượng thành viên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77200" y="6057900"/>
            <a:ext cx="3657600" cy="317500"/>
          </a:xfrm>
          <a:prstGeom prst="roundRect">
            <a:avLst>
              <a:gd name="adj" fmla="val 8000"/>
            </a:avLst>
          </a:prstGeom>
          <a:solidFill>
            <a:srgbClr val="E8E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6121400"/>
            <a:ext cx="3429000" cy="24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00"/>
              </a:lnSpc>
              <a:spcAft>
                <a:spcPts val="0"/>
              </a:spcAft>
              <a:defRPr sz="1000" b="1">
                <a:solidFill>
                  <a:srgbClr val="465FFF"/>
                </a:solidFill>
                <a:latin typeface="Be Vietnam Pro"/>
              </a:defRPr>
            </a:pPr>
            <a:r>
              <a:t>Theo dõi hạn nghiệm thu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88500" y="1739900"/>
            <a:ext cx="2463800" cy="2082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40"/>
              </a:lnSpc>
              <a:spcAft>
                <a:spcPts val="0"/>
              </a:spcAft>
              <a:defRPr sz="800" b="0">
                <a:solidFill>
                  <a:srgbClr val="71809E"/>
                </a:solidFill>
                <a:latin typeface="Be Vietnam Pro"/>
              </a:defRPr>
            </a:pPr>
            <a:r>
              <a:t>Giao diện từ HDSD hiện tại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1800" y="254000"/>
            <a:ext cx="1193800" cy="3403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80"/>
              </a:lnSpc>
              <a:spcAft>
                <a:spcPts val="0"/>
              </a:spcAft>
              <a:defRPr sz="1600" b="1">
                <a:solidFill>
                  <a:srgbClr val="465FFF"/>
                </a:solidFill>
                <a:latin typeface="Be Vietnam Pro"/>
              </a:defRPr>
            </a:pPr>
            <a:r>
              <a:t>RMS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78000" y="304800"/>
            <a:ext cx="9575800" cy="2247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70"/>
              </a:lnSpc>
              <a:spcAft>
                <a:spcPts val="0"/>
              </a:spcAft>
              <a:defRPr sz="900" b="1">
                <a:solidFill>
                  <a:srgbClr val="71809E"/>
                </a:solidFill>
                <a:latin typeface="Be Vietnam Pro"/>
              </a:defRPr>
            </a:pPr>
            <a:r>
              <a:t>DESKTOP / ĐĂNG KÝ ĐỀ TÀI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1800" y="812800"/>
            <a:ext cx="11226800" cy="571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900"/>
              </a:lnSpc>
              <a:spcAft>
                <a:spcPts val="0"/>
              </a:spcAft>
              <a:defRPr sz="3000" b="1">
                <a:solidFill>
                  <a:srgbClr val="192453"/>
                </a:solidFill>
                <a:latin typeface="Be Vietnam Pro"/>
              </a:defRPr>
            </a:pPr>
            <a:r>
              <a:t>Từ ý tưởng đến hồ sơ, qua 5 bước.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4500" y="1409700"/>
            <a:ext cx="11226800" cy="2908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90"/>
              </a:lnSpc>
              <a:spcAft>
                <a:spcPts val="0"/>
              </a:spcAft>
              <a:defRPr sz="1300" b="0">
                <a:solidFill>
                  <a:srgbClr val="71809E"/>
                </a:solidFill>
                <a:latin typeface="Be Vietnam Pro"/>
              </a:defRPr>
            </a:pPr>
            <a:r>
              <a:t>Nhà nghiên cứu có thể lưu nháp, bổ sung hồ sơ và nộp chính thức.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1800" y="6553200"/>
            <a:ext cx="10210800" cy="2082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40"/>
              </a:lnSpc>
              <a:spcAft>
                <a:spcPts val="0"/>
              </a:spcAft>
              <a:defRPr sz="800" b="0">
                <a:solidFill>
                  <a:srgbClr val="71809E"/>
                </a:solidFill>
                <a:latin typeface="Be Vietnam Pro"/>
              </a:defRPr>
            </a:pPr>
            <a:r>
              <a:t>RMS / GIẢI PHÁP QUẢN LÝ NGHIÊN CỨU KHOA HỌC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66500" y="6515100"/>
            <a:ext cx="495300" cy="2578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30"/>
              </a:lnSpc>
              <a:spcAft>
                <a:spcPts val="0"/>
              </a:spcAft>
              <a:defRPr sz="1100" b="1">
                <a:solidFill>
                  <a:srgbClr val="465FFF"/>
                </a:solidFill>
                <a:latin typeface="Be Vietnam Pro"/>
              </a:defRPr>
            </a:pPr>
            <a:r>
              <a:t>05</a:t>
            </a:r>
          </a:p>
        </p:txBody>
      </p:sp>
      <p:pic>
        <p:nvPicPr>
          <p:cNvPr id="9" name="Picture 8" descr="page-07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800" y="2209800"/>
            <a:ext cx="7543800" cy="3583304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343900" y="2184400"/>
            <a:ext cx="342900" cy="342900"/>
          </a:xfrm>
          <a:prstGeom prst="roundRect">
            <a:avLst>
              <a:gd name="adj" fmla="val 8000"/>
            </a:avLst>
          </a:prstGeom>
          <a:solidFill>
            <a:srgbClr val="465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45500" y="2235200"/>
            <a:ext cx="2921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60"/>
              </a:lnSpc>
              <a:spcAft>
                <a:spcPts val="0"/>
              </a:spcAft>
              <a:defRPr sz="1200" b="1">
                <a:solidFill>
                  <a:srgbClr val="FFFFFF"/>
                </a:solidFill>
                <a:latin typeface="Be Vietnam Pro"/>
              </a:defRPr>
            </a:pPr>
            <a: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26500" y="2146300"/>
            <a:ext cx="3022600" cy="3238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50"/>
              </a:lnSpc>
              <a:spcAft>
                <a:spcPts val="0"/>
              </a:spcAft>
              <a:defRPr sz="1500" b="1">
                <a:solidFill>
                  <a:srgbClr val="192453"/>
                </a:solidFill>
                <a:latin typeface="Be Vietnam Pro"/>
              </a:defRPr>
            </a:pPr>
            <a:r>
              <a:t>Loại &amp; đợt đăng ký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26500" y="2489200"/>
            <a:ext cx="3022600" cy="24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00"/>
              </a:lnSpc>
              <a:spcAft>
                <a:spcPts val="0"/>
              </a:spcAft>
              <a:defRPr sz="1000" b="0">
                <a:solidFill>
                  <a:srgbClr val="71809E"/>
                </a:solidFill>
                <a:latin typeface="Be Vietnam Pro"/>
              </a:defRPr>
            </a:pPr>
            <a:r>
              <a:t>Chọn đợt đang mở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43900" y="2959100"/>
            <a:ext cx="342900" cy="342900"/>
          </a:xfrm>
          <a:prstGeom prst="roundRect">
            <a:avLst>
              <a:gd name="adj" fmla="val 8000"/>
            </a:avLst>
          </a:prstGeom>
          <a:solidFill>
            <a:srgbClr val="465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45500" y="3009900"/>
            <a:ext cx="2921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60"/>
              </a:lnSpc>
              <a:spcAft>
                <a:spcPts val="0"/>
              </a:spcAft>
              <a:defRPr sz="1200" b="1">
                <a:solidFill>
                  <a:srgbClr val="FFFFFF"/>
                </a:solidFill>
                <a:latin typeface="Be Vietnam Pro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26500" y="2921000"/>
            <a:ext cx="3022600" cy="3238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50"/>
              </a:lnSpc>
              <a:spcAft>
                <a:spcPts val="0"/>
              </a:spcAft>
              <a:defRPr sz="1500" b="1">
                <a:solidFill>
                  <a:srgbClr val="192453"/>
                </a:solidFill>
                <a:latin typeface="Be Vietnam Pro"/>
              </a:defRPr>
            </a:pPr>
            <a:r>
              <a:t>Thông tin chung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26500" y="3263900"/>
            <a:ext cx="3022600" cy="24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00"/>
              </a:lnSpc>
              <a:spcAft>
                <a:spcPts val="0"/>
              </a:spcAft>
              <a:defRPr sz="1000" b="0">
                <a:solidFill>
                  <a:srgbClr val="71809E"/>
                </a:solidFill>
                <a:latin typeface="Be Vietnam Pro"/>
              </a:defRPr>
            </a:pPr>
            <a:r>
              <a:t>Tên đề tài, thời gian, kinh phí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343900" y="3733800"/>
            <a:ext cx="342900" cy="342900"/>
          </a:xfrm>
          <a:prstGeom prst="roundRect">
            <a:avLst>
              <a:gd name="adj" fmla="val 8000"/>
            </a:avLst>
          </a:prstGeom>
          <a:solidFill>
            <a:srgbClr val="465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45500" y="3784600"/>
            <a:ext cx="2921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60"/>
              </a:lnSpc>
              <a:spcAft>
                <a:spcPts val="0"/>
              </a:spcAft>
              <a:defRPr sz="1200" b="1">
                <a:solidFill>
                  <a:srgbClr val="FFFFFF"/>
                </a:solidFill>
                <a:latin typeface="Be Vietnam Pro"/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26500" y="3695700"/>
            <a:ext cx="3022600" cy="3238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50"/>
              </a:lnSpc>
              <a:spcAft>
                <a:spcPts val="0"/>
              </a:spcAft>
              <a:defRPr sz="1500" b="1">
                <a:solidFill>
                  <a:srgbClr val="192453"/>
                </a:solidFill>
                <a:latin typeface="Be Vietnam Pro"/>
              </a:defRPr>
            </a:pPr>
            <a:r>
              <a:t>Nhóm nghiên cứu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26500" y="4038600"/>
            <a:ext cx="3022600" cy="24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00"/>
              </a:lnSpc>
              <a:spcAft>
                <a:spcPts val="0"/>
              </a:spcAft>
              <a:defRPr sz="1000" b="0">
                <a:solidFill>
                  <a:srgbClr val="71809E"/>
                </a:solidFill>
                <a:latin typeface="Be Vietnam Pro"/>
              </a:defRPr>
            </a:pPr>
            <a:r>
              <a:t>Chủ nhiệm, thư ký, thành viên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343900" y="4508500"/>
            <a:ext cx="342900" cy="342900"/>
          </a:xfrm>
          <a:prstGeom prst="roundRect">
            <a:avLst>
              <a:gd name="adj" fmla="val 8000"/>
            </a:avLst>
          </a:prstGeom>
          <a:solidFill>
            <a:srgbClr val="465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45500" y="4559300"/>
            <a:ext cx="2921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60"/>
              </a:lnSpc>
              <a:spcAft>
                <a:spcPts val="0"/>
              </a:spcAft>
              <a:defRPr sz="1200" b="1">
                <a:solidFill>
                  <a:srgbClr val="FFFFFF"/>
                </a:solidFill>
                <a:latin typeface="Be Vietnam Pro"/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26500" y="4470400"/>
            <a:ext cx="3022600" cy="3238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50"/>
              </a:lnSpc>
              <a:spcAft>
                <a:spcPts val="0"/>
              </a:spcAft>
              <a:defRPr sz="1500" b="1">
                <a:solidFill>
                  <a:srgbClr val="192453"/>
                </a:solidFill>
                <a:latin typeface="Be Vietnam Pro"/>
              </a:defRPr>
            </a:pPr>
            <a:r>
              <a:t>Thuyết minh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26500" y="4813300"/>
            <a:ext cx="3022600" cy="24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00"/>
              </a:lnSpc>
              <a:spcAft>
                <a:spcPts val="0"/>
              </a:spcAft>
              <a:defRPr sz="1000" b="0">
                <a:solidFill>
                  <a:srgbClr val="71809E"/>
                </a:solidFill>
                <a:latin typeface="Be Vietnam Pro"/>
              </a:defRPr>
            </a:pPr>
            <a:r>
              <a:t>Mục tiêu và tệp PDF/Word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343900" y="5283200"/>
            <a:ext cx="342900" cy="342900"/>
          </a:xfrm>
          <a:prstGeom prst="roundRect">
            <a:avLst>
              <a:gd name="adj" fmla="val 8000"/>
            </a:avLst>
          </a:prstGeom>
          <a:solidFill>
            <a:srgbClr val="465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45500" y="5334000"/>
            <a:ext cx="2921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60"/>
              </a:lnSpc>
              <a:spcAft>
                <a:spcPts val="0"/>
              </a:spcAft>
              <a:defRPr sz="1200" b="1">
                <a:solidFill>
                  <a:srgbClr val="FFFFFF"/>
                </a:solidFill>
                <a:latin typeface="Be Vietnam Pro"/>
              </a:defRPr>
            </a:pPr>
            <a: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26500" y="5245100"/>
            <a:ext cx="3022600" cy="3238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50"/>
              </a:lnSpc>
              <a:spcAft>
                <a:spcPts val="0"/>
              </a:spcAft>
              <a:defRPr sz="1500" b="1">
                <a:solidFill>
                  <a:srgbClr val="192453"/>
                </a:solidFill>
                <a:latin typeface="Be Vietnam Pro"/>
              </a:defRPr>
            </a:pPr>
            <a:r>
              <a:t>Lưu &amp; nộp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26500" y="5588000"/>
            <a:ext cx="3022600" cy="24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00"/>
              </a:lnSpc>
              <a:spcAft>
                <a:spcPts val="0"/>
              </a:spcAft>
              <a:defRPr sz="1000" b="0">
                <a:solidFill>
                  <a:srgbClr val="71809E"/>
                </a:solidFill>
                <a:latin typeface="Be Vietnam Pro"/>
              </a:defRPr>
            </a:pPr>
            <a:r>
              <a:t>Lưu nháp hoặc đăng ký chính thức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4500" y="6007100"/>
            <a:ext cx="7035800" cy="2247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70"/>
              </a:lnSpc>
              <a:spcAft>
                <a:spcPts val="0"/>
              </a:spcAft>
              <a:defRPr sz="900" b="0">
                <a:solidFill>
                  <a:srgbClr val="71809E"/>
                </a:solidFill>
                <a:latin typeface="Be Vietnam Pro"/>
              </a:defRPr>
            </a:pPr>
            <a:r>
              <a:t>Giao diện từ HDSD hiện tại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1800" y="254000"/>
            <a:ext cx="1193800" cy="3403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80"/>
              </a:lnSpc>
              <a:spcAft>
                <a:spcPts val="0"/>
              </a:spcAft>
              <a:defRPr sz="1600" b="1">
                <a:solidFill>
                  <a:srgbClr val="465FFF"/>
                </a:solidFill>
                <a:latin typeface="Be Vietnam Pro"/>
              </a:defRPr>
            </a:pPr>
            <a:r>
              <a:t>RMS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78000" y="304800"/>
            <a:ext cx="9575800" cy="2247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70"/>
              </a:lnSpc>
              <a:spcAft>
                <a:spcPts val="0"/>
              </a:spcAft>
              <a:defRPr sz="900" b="1">
                <a:solidFill>
                  <a:srgbClr val="71809E"/>
                </a:solidFill>
                <a:latin typeface="Be Vietnam Pro"/>
              </a:defRPr>
            </a:pPr>
            <a:r>
              <a:t>DESKTOP / DANH MỤC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1800" y="812800"/>
            <a:ext cx="11226800" cy="571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900"/>
              </a:lnSpc>
              <a:spcAft>
                <a:spcPts val="0"/>
              </a:spcAft>
              <a:defRPr sz="3000" b="1">
                <a:solidFill>
                  <a:srgbClr val="192453"/>
                </a:solidFill>
                <a:latin typeface="Be Vietnam Pro"/>
              </a:defRPr>
            </a:pPr>
            <a:r>
              <a:t>Toàn bộ đề tài, trong một khung nhìn.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4500" y="1409700"/>
            <a:ext cx="11226800" cy="2908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90"/>
              </a:lnSpc>
              <a:spcAft>
                <a:spcPts val="0"/>
              </a:spcAft>
              <a:defRPr sz="1300" b="0">
                <a:solidFill>
                  <a:srgbClr val="71809E"/>
                </a:solidFill>
                <a:latin typeface="Be Vietnam Pro"/>
              </a:defRPr>
            </a:pPr>
            <a:r>
              <a:t>Tra cứu theo tên; lọc theo trạng thái, loại đề tài, năm học và đợt đăng ký.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1800" y="6553200"/>
            <a:ext cx="10210800" cy="2082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40"/>
              </a:lnSpc>
              <a:spcAft>
                <a:spcPts val="0"/>
              </a:spcAft>
              <a:defRPr sz="800" b="0">
                <a:solidFill>
                  <a:srgbClr val="71809E"/>
                </a:solidFill>
                <a:latin typeface="Be Vietnam Pro"/>
              </a:defRPr>
            </a:pPr>
            <a:r>
              <a:t>RMS / GIẢI PHÁP QUẢN LÝ NGHIÊN CỨU KHOA HỌC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66500" y="6515100"/>
            <a:ext cx="495300" cy="2578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30"/>
              </a:lnSpc>
              <a:spcAft>
                <a:spcPts val="0"/>
              </a:spcAft>
              <a:defRPr sz="1100" b="1">
                <a:solidFill>
                  <a:srgbClr val="465FFF"/>
                </a:solidFill>
                <a:latin typeface="Be Vietnam Pro"/>
              </a:defRPr>
            </a:pPr>
            <a:r>
              <a:t>06</a:t>
            </a:r>
          </a:p>
        </p:txBody>
      </p:sp>
      <p:pic>
        <p:nvPicPr>
          <p:cNvPr id="9" name="Picture 8" descr="page-06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0884" y="1943100"/>
            <a:ext cx="8470231" cy="402336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431800" y="6057900"/>
            <a:ext cx="3657600" cy="317500"/>
          </a:xfrm>
          <a:prstGeom prst="roundRect">
            <a:avLst>
              <a:gd name="adj" fmla="val 8000"/>
            </a:avLst>
          </a:prstGeom>
          <a:solidFill>
            <a:srgbClr val="E8E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4200" y="6121400"/>
            <a:ext cx="3429000" cy="24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00"/>
              </a:lnSpc>
              <a:spcAft>
                <a:spcPts val="0"/>
              </a:spcAft>
              <a:defRPr sz="1000" b="1">
                <a:solidFill>
                  <a:srgbClr val="465FFF"/>
                </a:solidFill>
                <a:latin typeface="Be Vietnam Pro"/>
              </a:defRPr>
            </a:pPr>
            <a:r>
              <a:t>Tìm kiếm và lọc hồ sơ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54500" y="6057900"/>
            <a:ext cx="3657600" cy="317500"/>
          </a:xfrm>
          <a:prstGeom prst="roundRect">
            <a:avLst>
              <a:gd name="adj" fmla="val 8000"/>
            </a:avLst>
          </a:prstGeom>
          <a:solidFill>
            <a:srgbClr val="E8E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06900" y="6121400"/>
            <a:ext cx="3429000" cy="24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00"/>
              </a:lnSpc>
              <a:spcAft>
                <a:spcPts val="0"/>
              </a:spcAft>
              <a:defRPr sz="1000" b="1">
                <a:solidFill>
                  <a:srgbClr val="465FFF"/>
                </a:solidFill>
                <a:latin typeface="Be Vietnam Pro"/>
              </a:defRPr>
            </a:pPr>
            <a:r>
              <a:t>Theo dõi trạng thái đề tài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77200" y="6057900"/>
            <a:ext cx="3657600" cy="317500"/>
          </a:xfrm>
          <a:prstGeom prst="roundRect">
            <a:avLst>
              <a:gd name="adj" fmla="val 8000"/>
            </a:avLst>
          </a:prstGeom>
          <a:solidFill>
            <a:srgbClr val="E8E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6121400"/>
            <a:ext cx="3429000" cy="24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00"/>
              </a:lnSpc>
              <a:spcAft>
                <a:spcPts val="0"/>
              </a:spcAft>
              <a:defRPr sz="1000" b="1">
                <a:solidFill>
                  <a:srgbClr val="465FFF"/>
                </a:solidFill>
                <a:latin typeface="Be Vietnam Pro"/>
              </a:defRPr>
            </a:pPr>
            <a:r>
              <a:t>Mở chi tiết từ danh sách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88500" y="1739900"/>
            <a:ext cx="2463800" cy="2082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40"/>
              </a:lnSpc>
              <a:spcAft>
                <a:spcPts val="0"/>
              </a:spcAft>
              <a:defRPr sz="800" b="0">
                <a:solidFill>
                  <a:srgbClr val="71809E"/>
                </a:solidFill>
                <a:latin typeface="Be Vietnam Pro"/>
              </a:defRPr>
            </a:pPr>
            <a:r>
              <a:t>Giao diện từ HDSD hiện tại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1800" y="254000"/>
            <a:ext cx="1193800" cy="3403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80"/>
              </a:lnSpc>
              <a:spcAft>
                <a:spcPts val="0"/>
              </a:spcAft>
              <a:defRPr sz="1600" b="1">
                <a:solidFill>
                  <a:srgbClr val="465FFF"/>
                </a:solidFill>
                <a:latin typeface="Be Vietnam Pro"/>
              </a:defRPr>
            </a:pPr>
            <a:r>
              <a:t>RMS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78000" y="304800"/>
            <a:ext cx="9575800" cy="2247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70"/>
              </a:lnSpc>
              <a:spcAft>
                <a:spcPts val="0"/>
              </a:spcAft>
              <a:defRPr sz="900" b="1">
                <a:solidFill>
                  <a:srgbClr val="71809E"/>
                </a:solidFill>
                <a:latin typeface="Be Vietnam Pro"/>
              </a:defRPr>
            </a:pPr>
            <a:r>
              <a:t>HỘI ĐỒNG &amp; CUỘC HỌP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1800" y="812800"/>
            <a:ext cx="11226800" cy="571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900"/>
              </a:lnSpc>
              <a:spcAft>
                <a:spcPts val="0"/>
              </a:spcAft>
              <a:defRPr sz="3000" b="1">
                <a:solidFill>
                  <a:srgbClr val="192453"/>
                </a:solidFill>
                <a:latin typeface="Be Vietnam Pro"/>
              </a:defRPr>
            </a:pPr>
            <a:r>
              <a:t>Một phiên họp. Trọn luồng đánh giá.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4500" y="1409700"/>
            <a:ext cx="11226800" cy="2908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90"/>
              </a:lnSpc>
              <a:spcAft>
                <a:spcPts val="0"/>
              </a:spcAft>
              <a:defRPr sz="1300" b="0">
                <a:solidFill>
                  <a:srgbClr val="71809E"/>
                </a:solidFill>
                <a:latin typeface="Be Vietnam Pro"/>
              </a:defRPr>
            </a:pPr>
            <a:r>
              <a:t>Từ tổ chức hội đồng đến biên bản và công bố kết quả.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1800" y="6553200"/>
            <a:ext cx="10210800" cy="2082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40"/>
              </a:lnSpc>
              <a:spcAft>
                <a:spcPts val="0"/>
              </a:spcAft>
              <a:defRPr sz="800" b="0">
                <a:solidFill>
                  <a:srgbClr val="71809E"/>
                </a:solidFill>
                <a:latin typeface="Be Vietnam Pro"/>
              </a:defRPr>
            </a:pPr>
            <a:r>
              <a:t>RMS / GIẢI PHÁP QUẢN LÝ NGHIÊN CỨU KHOA HỌC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66500" y="6515100"/>
            <a:ext cx="495300" cy="2578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30"/>
              </a:lnSpc>
              <a:spcAft>
                <a:spcPts val="0"/>
              </a:spcAft>
              <a:defRPr sz="1100" b="1">
                <a:solidFill>
                  <a:srgbClr val="465FFF"/>
                </a:solidFill>
                <a:latin typeface="Be Vietnam Pro"/>
              </a:defRPr>
            </a:pPr>
            <a:r>
              <a:t>07</a:t>
            </a:r>
          </a:p>
        </p:txBody>
      </p:sp>
      <p:pic>
        <p:nvPicPr>
          <p:cNvPr id="9" name="Picture 8" descr="RMS-Hop-style-hien-ta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800" y="2197100"/>
            <a:ext cx="7327900" cy="348081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178800" y="2235200"/>
            <a:ext cx="749300" cy="4724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120"/>
              </a:lnSpc>
              <a:spcAft>
                <a:spcPts val="0"/>
              </a:spcAft>
              <a:defRPr sz="2400" b="1">
                <a:solidFill>
                  <a:srgbClr val="465FFF"/>
                </a:solidFill>
                <a:latin typeface="Be Vietnam Pro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40800" y="2235200"/>
            <a:ext cx="2857500" cy="3898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70"/>
              </a:lnSpc>
              <a:spcAft>
                <a:spcPts val="0"/>
              </a:spcAft>
              <a:defRPr sz="1900" b="1">
                <a:solidFill>
                  <a:srgbClr val="192453"/>
                </a:solidFill>
                <a:latin typeface="Be Vietnam Pro"/>
              </a:defRPr>
            </a:pPr>
            <a:r>
              <a:t>Chuẩn bị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78800" y="2730500"/>
            <a:ext cx="3581400" cy="5054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90"/>
              </a:lnSpc>
              <a:spcAft>
                <a:spcPts val="0"/>
              </a:spcAft>
              <a:defRPr sz="1300" b="0">
                <a:solidFill>
                  <a:srgbClr val="71809E"/>
                </a:solidFill>
                <a:latin typeface="Be Vietnam Pro"/>
              </a:defRPr>
            </a:pPr>
            <a:r>
              <a:t>Chọn hội đồng, đề tài, thành viên; gửi giấy</a:t>
            </a:r>
          </a:p>
          <a:p>
            <a:pPr>
              <a:lnSpc>
                <a:spcPts val="1690"/>
              </a:lnSpc>
              <a:spcAft>
                <a:spcPts val="0"/>
              </a:spcAft>
              <a:defRPr sz="1300" b="0">
                <a:solidFill>
                  <a:srgbClr val="71809E"/>
                </a:solidFill>
                <a:latin typeface="Be Vietnam Pro"/>
              </a:defRPr>
            </a:pPr>
            <a:r>
              <a:t>mời.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78800" y="3492500"/>
            <a:ext cx="749300" cy="4724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120"/>
              </a:lnSpc>
              <a:spcAft>
                <a:spcPts val="0"/>
              </a:spcAft>
              <a:defRPr sz="2400" b="1">
                <a:solidFill>
                  <a:srgbClr val="465FFF"/>
                </a:solidFill>
                <a:latin typeface="Be Vietnam Pro"/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40800" y="3492500"/>
            <a:ext cx="2857500" cy="3898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70"/>
              </a:lnSpc>
              <a:spcAft>
                <a:spcPts val="0"/>
              </a:spcAft>
              <a:defRPr sz="1900" b="1">
                <a:solidFill>
                  <a:srgbClr val="192453"/>
                </a:solidFill>
                <a:latin typeface="Be Vietnam Pro"/>
              </a:defRPr>
            </a:pPr>
            <a:r>
              <a:t>Điều hành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8800" y="3987800"/>
            <a:ext cx="3581400" cy="5054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90"/>
              </a:lnSpc>
              <a:spcAft>
                <a:spcPts val="0"/>
              </a:spcAft>
              <a:defRPr sz="1300" b="0">
                <a:solidFill>
                  <a:srgbClr val="71809E"/>
                </a:solidFill>
                <a:latin typeface="Be Vietnam Pro"/>
              </a:defRPr>
            </a:pPr>
            <a:r>
              <a:t>Trực tiếp hoặc qua link họp; ghi nhận bắt</a:t>
            </a:r>
          </a:p>
          <a:p>
            <a:pPr>
              <a:lnSpc>
                <a:spcPts val="1690"/>
              </a:lnSpc>
              <a:spcAft>
                <a:spcPts val="0"/>
              </a:spcAft>
              <a:defRPr sz="1300" b="0">
                <a:solidFill>
                  <a:srgbClr val="71809E"/>
                </a:solidFill>
                <a:latin typeface="Be Vietnam Pro"/>
              </a:defRPr>
            </a:pPr>
            <a:r>
              <a:t>đầu/kết thúc.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78800" y="4749800"/>
            <a:ext cx="749300" cy="4724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120"/>
              </a:lnSpc>
              <a:spcAft>
                <a:spcPts val="0"/>
              </a:spcAft>
              <a:defRPr sz="2400" b="1">
                <a:solidFill>
                  <a:srgbClr val="465FFF"/>
                </a:solidFill>
                <a:latin typeface="Be Vietnam Pro"/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40800" y="4749800"/>
            <a:ext cx="2857500" cy="3898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70"/>
              </a:lnSpc>
              <a:spcAft>
                <a:spcPts val="0"/>
              </a:spcAft>
              <a:defRPr sz="1900" b="1">
                <a:solidFill>
                  <a:srgbClr val="192453"/>
                </a:solidFill>
                <a:latin typeface="Be Vietnam Pro"/>
              </a:defRPr>
            </a:pPr>
            <a:r>
              <a:t>Kết luận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78800" y="5245100"/>
            <a:ext cx="3581400" cy="5054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90"/>
              </a:lnSpc>
              <a:spcAft>
                <a:spcPts val="0"/>
              </a:spcAft>
              <a:defRPr sz="1300" b="0">
                <a:solidFill>
                  <a:srgbClr val="71809E"/>
                </a:solidFill>
                <a:latin typeface="Be Vietnam Pro"/>
              </a:defRPr>
            </a:pPr>
            <a:r>
              <a:t>Đạt / Không đạt / Cần chỉnh sửa; lưu biên</a:t>
            </a:r>
          </a:p>
          <a:p>
            <a:pPr>
              <a:lnSpc>
                <a:spcPts val="1690"/>
              </a:lnSpc>
              <a:spcAft>
                <a:spcPts val="0"/>
              </a:spcAft>
              <a:defRPr sz="1300" b="0">
                <a:solidFill>
                  <a:srgbClr val="71809E"/>
                </a:solidFill>
                <a:latin typeface="Be Vietnam Pro"/>
              </a:defRPr>
            </a:pPr>
            <a:r>
              <a:t>bản và công bố.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4500" y="6007100"/>
            <a:ext cx="7035800" cy="2247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70"/>
              </a:lnSpc>
              <a:spcAft>
                <a:spcPts val="0"/>
              </a:spcAft>
              <a:defRPr sz="900" b="0">
                <a:solidFill>
                  <a:srgbClr val="71809E"/>
                </a:solidFill>
                <a:latin typeface="Be Vietnam Pro"/>
              </a:defRPr>
            </a:pPr>
            <a:r>
              <a:t>Minh họa giao diện với dữ liệu mẫu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1800" y="254000"/>
            <a:ext cx="1193800" cy="3403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80"/>
              </a:lnSpc>
              <a:spcAft>
                <a:spcPts val="0"/>
              </a:spcAft>
              <a:defRPr sz="1600" b="1">
                <a:solidFill>
                  <a:srgbClr val="465FFF"/>
                </a:solidFill>
                <a:latin typeface="Be Vietnam Pro"/>
              </a:defRPr>
            </a:pPr>
            <a:r>
              <a:t>RMS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78000" y="304800"/>
            <a:ext cx="9575800" cy="2247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70"/>
              </a:lnSpc>
              <a:spcAft>
                <a:spcPts val="0"/>
              </a:spcAft>
              <a:defRPr sz="900" b="1">
                <a:solidFill>
                  <a:srgbClr val="71809E"/>
                </a:solidFill>
                <a:latin typeface="Be Vietnam Pro"/>
              </a:defRPr>
            </a:pPr>
            <a:r>
              <a:t>DESKTOP / HỒ SƠ &amp; TIẾN ĐỘ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1800" y="812800"/>
            <a:ext cx="11226800" cy="571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900"/>
              </a:lnSpc>
              <a:spcAft>
                <a:spcPts val="0"/>
              </a:spcAft>
              <a:defRPr sz="3000" b="1">
                <a:solidFill>
                  <a:srgbClr val="192453"/>
                </a:solidFill>
                <a:latin typeface="Be Vietnam Pro"/>
              </a:defRPr>
            </a:pPr>
            <a:r>
              <a:t>Một hồ sơ xuyên suốt quá trình nghiên cứu.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4500" y="1409700"/>
            <a:ext cx="11226800" cy="2908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90"/>
              </a:lnSpc>
              <a:spcAft>
                <a:spcPts val="0"/>
              </a:spcAft>
              <a:defRPr sz="1300" b="0">
                <a:solidFill>
                  <a:srgbClr val="71809E"/>
                </a:solidFill>
                <a:latin typeface="Be Vietnam Pro"/>
              </a:defRPr>
            </a:pPr>
            <a:r>
              <a:t>Thuyết minh, thành viên, giao/khoán, tiến độ và lịch sử cùng trong hồ sơ đề tài.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1800" y="6553200"/>
            <a:ext cx="10210800" cy="2082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40"/>
              </a:lnSpc>
              <a:spcAft>
                <a:spcPts val="0"/>
              </a:spcAft>
              <a:defRPr sz="800" b="0">
                <a:solidFill>
                  <a:srgbClr val="71809E"/>
                </a:solidFill>
                <a:latin typeface="Be Vietnam Pro"/>
              </a:defRPr>
            </a:pPr>
            <a:r>
              <a:t>RMS / GIẢI PHÁP QUẢN LÝ NGHIÊN CỨU KHOA HỌC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66500" y="6515100"/>
            <a:ext cx="495300" cy="2578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30"/>
              </a:lnSpc>
              <a:spcAft>
                <a:spcPts val="0"/>
              </a:spcAft>
              <a:defRPr sz="1100" b="1">
                <a:solidFill>
                  <a:srgbClr val="465FFF"/>
                </a:solidFill>
                <a:latin typeface="Be Vietnam Pro"/>
              </a:defRPr>
            </a:pPr>
            <a:r>
              <a:t>08</a:t>
            </a:r>
          </a:p>
        </p:txBody>
      </p:sp>
      <p:pic>
        <p:nvPicPr>
          <p:cNvPr id="9" name="Picture 8" descr="page-08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0884" y="1943100"/>
            <a:ext cx="8470231" cy="402336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431800" y="6057900"/>
            <a:ext cx="3657600" cy="317500"/>
          </a:xfrm>
          <a:prstGeom prst="roundRect">
            <a:avLst>
              <a:gd name="adj" fmla="val 8000"/>
            </a:avLst>
          </a:prstGeom>
          <a:solidFill>
            <a:srgbClr val="E8E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4200" y="6121400"/>
            <a:ext cx="3429000" cy="24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00"/>
              </a:lnSpc>
              <a:spcAft>
                <a:spcPts val="0"/>
              </a:spcAft>
              <a:defRPr sz="1000" b="1">
                <a:solidFill>
                  <a:srgbClr val="465FFF"/>
                </a:solidFill>
                <a:latin typeface="Be Vietnam Pro"/>
              </a:defRPr>
            </a:pPr>
            <a:r>
              <a:t>Thuyết minh &amp; nhóm nghiên cứu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54500" y="6057900"/>
            <a:ext cx="3657600" cy="317500"/>
          </a:xfrm>
          <a:prstGeom prst="roundRect">
            <a:avLst>
              <a:gd name="adj" fmla="val 8000"/>
            </a:avLst>
          </a:prstGeom>
          <a:solidFill>
            <a:srgbClr val="E8E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06900" y="6121400"/>
            <a:ext cx="3429000" cy="24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00"/>
              </a:lnSpc>
              <a:spcAft>
                <a:spcPts val="0"/>
              </a:spcAft>
              <a:defRPr sz="1000" b="1">
                <a:solidFill>
                  <a:srgbClr val="465FFF"/>
                </a:solidFill>
                <a:latin typeface="Be Vietnam Pro"/>
              </a:defRPr>
            </a:pPr>
            <a:r>
              <a:t>Hợp đồng / quyết định giao khoán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77200" y="6057900"/>
            <a:ext cx="3657600" cy="317500"/>
          </a:xfrm>
          <a:prstGeom prst="roundRect">
            <a:avLst>
              <a:gd name="adj" fmla="val 8000"/>
            </a:avLst>
          </a:prstGeom>
          <a:solidFill>
            <a:srgbClr val="E8E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6121400"/>
            <a:ext cx="3429000" cy="24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00"/>
              </a:lnSpc>
              <a:spcAft>
                <a:spcPts val="0"/>
              </a:spcAft>
              <a:defRPr sz="1000" b="1">
                <a:solidFill>
                  <a:srgbClr val="465FFF"/>
                </a:solidFill>
                <a:latin typeface="Be Vietnam Pro"/>
              </a:defRPr>
            </a:pPr>
            <a:r>
              <a:t>Tạo kỳ, nộp &amp; duyệt báo cáo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88500" y="1739900"/>
            <a:ext cx="2463800" cy="2082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40"/>
              </a:lnSpc>
              <a:spcAft>
                <a:spcPts val="0"/>
              </a:spcAft>
              <a:defRPr sz="800" b="0">
                <a:solidFill>
                  <a:srgbClr val="71809E"/>
                </a:solidFill>
                <a:latin typeface="Be Vietnam Pro"/>
              </a:defRPr>
            </a:pPr>
            <a:r>
              <a:t>Giao diện từ HDSD hiện tại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1800" y="254000"/>
            <a:ext cx="1193800" cy="3403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80"/>
              </a:lnSpc>
              <a:spcAft>
                <a:spcPts val="0"/>
              </a:spcAft>
              <a:defRPr sz="1600" b="1">
                <a:solidFill>
                  <a:srgbClr val="465FFF"/>
                </a:solidFill>
                <a:latin typeface="Be Vietnam Pro"/>
              </a:defRPr>
            </a:pPr>
            <a:r>
              <a:t>RMS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78000" y="304800"/>
            <a:ext cx="9575800" cy="2247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70"/>
              </a:lnSpc>
              <a:spcAft>
                <a:spcPts val="0"/>
              </a:spcAft>
              <a:defRPr sz="900" b="1">
                <a:solidFill>
                  <a:srgbClr val="71809E"/>
                </a:solidFill>
                <a:latin typeface="Be Vietnam Pro"/>
              </a:defRPr>
            </a:pPr>
            <a:r>
              <a:t>DESKTOP / KINH PHÍ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1800" y="812800"/>
            <a:ext cx="11226800" cy="571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900"/>
              </a:lnSpc>
              <a:spcAft>
                <a:spcPts val="0"/>
              </a:spcAft>
              <a:defRPr sz="3000" b="1">
                <a:solidFill>
                  <a:srgbClr val="192453"/>
                </a:solidFill>
                <a:latin typeface="Be Vietnam Pro"/>
              </a:defRPr>
            </a:pPr>
            <a:r>
              <a:t>Từ dự toán đến quyết toán, cùng một luồng.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4500" y="1409700"/>
            <a:ext cx="11226800" cy="2908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90"/>
              </a:lnSpc>
              <a:spcAft>
                <a:spcPts val="0"/>
              </a:spcAft>
              <a:defRPr sz="1300" b="0">
                <a:solidFill>
                  <a:srgbClr val="71809E"/>
                </a:solidFill>
                <a:latin typeface="Be Vietnam Pro"/>
              </a:defRPr>
            </a:pPr>
            <a:r>
              <a:t>Dự toán / Cấp phát / Ghi nhận chi / Đối soát / Quyết toán.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1800" y="6553200"/>
            <a:ext cx="10210800" cy="2082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40"/>
              </a:lnSpc>
              <a:spcAft>
                <a:spcPts val="0"/>
              </a:spcAft>
              <a:defRPr sz="800" b="0">
                <a:solidFill>
                  <a:srgbClr val="71809E"/>
                </a:solidFill>
                <a:latin typeface="Be Vietnam Pro"/>
              </a:defRPr>
            </a:pPr>
            <a:r>
              <a:t>RMS / GIẢI PHÁP QUẢN LÝ NGHIÊN CỨU KHOA HỌC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66500" y="6515100"/>
            <a:ext cx="495300" cy="2578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30"/>
              </a:lnSpc>
              <a:spcAft>
                <a:spcPts val="0"/>
              </a:spcAft>
              <a:defRPr sz="1100" b="1">
                <a:solidFill>
                  <a:srgbClr val="465FFF"/>
                </a:solidFill>
                <a:latin typeface="Be Vietnam Pro"/>
              </a:defRPr>
            </a:pPr>
            <a:r>
              <a:t>09</a:t>
            </a:r>
          </a:p>
        </p:txBody>
      </p:sp>
      <p:pic>
        <p:nvPicPr>
          <p:cNvPr id="9" name="Picture 8" descr="RMS-Kinh-phi-style-hien-ta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0884" y="1943100"/>
            <a:ext cx="8470231" cy="402336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431800" y="6057900"/>
            <a:ext cx="3657600" cy="317500"/>
          </a:xfrm>
          <a:prstGeom prst="roundRect">
            <a:avLst>
              <a:gd name="adj" fmla="val 8000"/>
            </a:avLst>
          </a:prstGeom>
          <a:solidFill>
            <a:srgbClr val="E8E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4200" y="6121400"/>
            <a:ext cx="3429000" cy="24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00"/>
              </a:lnSpc>
              <a:spcAft>
                <a:spcPts val="0"/>
              </a:spcAft>
              <a:defRPr sz="1000" b="1">
                <a:solidFill>
                  <a:srgbClr val="465FFF"/>
                </a:solidFill>
                <a:latin typeface="Be Vietnam Pro"/>
              </a:defRPr>
            </a:pPr>
            <a:r>
              <a:t>Tự tính thành tiền theo khoản mục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54500" y="6057900"/>
            <a:ext cx="3657600" cy="317500"/>
          </a:xfrm>
          <a:prstGeom prst="roundRect">
            <a:avLst>
              <a:gd name="adj" fmla="val 8000"/>
            </a:avLst>
          </a:prstGeom>
          <a:solidFill>
            <a:srgbClr val="E8E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06900" y="6121400"/>
            <a:ext cx="3429000" cy="24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00"/>
              </a:lnSpc>
              <a:spcAft>
                <a:spcPts val="0"/>
              </a:spcAft>
              <a:defRPr sz="1000" b="1">
                <a:solidFill>
                  <a:srgbClr val="465FFF"/>
                </a:solidFill>
                <a:latin typeface="Be Vietnam Pro"/>
              </a:defRPr>
            </a:pPr>
            <a:r>
              <a:t>Ghi nhận chi / nhập CSV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77200" y="6057900"/>
            <a:ext cx="3657600" cy="317500"/>
          </a:xfrm>
          <a:prstGeom prst="roundRect">
            <a:avLst>
              <a:gd name="adj" fmla="val 8000"/>
            </a:avLst>
          </a:prstGeom>
          <a:solidFill>
            <a:srgbClr val="E8E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6121400"/>
            <a:ext cx="3429000" cy="24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00"/>
              </a:lnSpc>
              <a:spcAft>
                <a:spcPts val="0"/>
              </a:spcAft>
              <a:defRPr sz="1000" b="1">
                <a:solidFill>
                  <a:srgbClr val="465FFF"/>
                </a:solidFill>
                <a:latin typeface="Be Vietnam Pro"/>
              </a:defRPr>
            </a:pPr>
            <a:r>
              <a:t>Xử lý chênh lệch trước quyết toán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88500" y="1739900"/>
            <a:ext cx="2463800" cy="2082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40"/>
              </a:lnSpc>
              <a:spcAft>
                <a:spcPts val="0"/>
              </a:spcAft>
              <a:defRPr sz="800" b="0">
                <a:solidFill>
                  <a:srgbClr val="71809E"/>
                </a:solidFill>
                <a:latin typeface="Be Vietnam Pro"/>
              </a:defRPr>
            </a:pPr>
            <a:r>
              <a:t>Minh họa giao diện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1800" y="254000"/>
            <a:ext cx="1193800" cy="3403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80"/>
              </a:lnSpc>
              <a:spcAft>
                <a:spcPts val="0"/>
              </a:spcAft>
              <a:defRPr sz="1600" b="1">
                <a:solidFill>
                  <a:srgbClr val="465FFF"/>
                </a:solidFill>
                <a:latin typeface="Be Vietnam Pro"/>
              </a:defRPr>
            </a:pPr>
            <a:r>
              <a:t>RMS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78000" y="304800"/>
            <a:ext cx="9575800" cy="2247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70"/>
              </a:lnSpc>
              <a:spcAft>
                <a:spcPts val="0"/>
              </a:spcAft>
              <a:defRPr sz="900" b="1">
                <a:solidFill>
                  <a:srgbClr val="71809E"/>
                </a:solidFill>
                <a:latin typeface="Be Vietnam Pro"/>
              </a:defRPr>
            </a:pPr>
            <a:r>
              <a:t>HỒ SƠ KHOA HỌC / ĐẠI HỌC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1800" y="812800"/>
            <a:ext cx="11226800" cy="571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900"/>
              </a:lnSpc>
              <a:spcAft>
                <a:spcPts val="0"/>
              </a:spcAft>
              <a:defRPr sz="3000" b="1">
                <a:solidFill>
                  <a:srgbClr val="192453"/>
                </a:solidFill>
                <a:latin typeface="Be Vietnam Pro"/>
              </a:defRPr>
            </a:pPr>
            <a:r>
              <a:t>Ghi nhận đóng góp. Tập hợp hồ sơ khoa học.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4500" y="1409700"/>
            <a:ext cx="11226800" cy="2908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90"/>
              </a:lnSpc>
              <a:spcAft>
                <a:spcPts val="0"/>
              </a:spcAft>
              <a:defRPr sz="1300" b="0">
                <a:solidFill>
                  <a:srgbClr val="71809E"/>
                </a:solidFill>
                <a:latin typeface="Be Vietnam Pro"/>
              </a:defRPr>
            </a:pPr>
            <a:r>
              <a:t>Kết nối quá trình nghiên cứu, hồ sơ cá nhân và hoạt động quy đổi giờ giảng.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1800" y="6553200"/>
            <a:ext cx="10210800" cy="2082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40"/>
              </a:lnSpc>
              <a:spcAft>
                <a:spcPts val="0"/>
              </a:spcAft>
              <a:defRPr sz="800" b="0">
                <a:solidFill>
                  <a:srgbClr val="71809E"/>
                </a:solidFill>
                <a:latin typeface="Be Vietnam Pro"/>
              </a:defRPr>
            </a:pPr>
            <a:r>
              <a:t>RMS / GIẢI PHÁP QUẢN LÝ NGHIÊN CỨU KHOA HỌC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66500" y="6515100"/>
            <a:ext cx="495300" cy="2578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30"/>
              </a:lnSpc>
              <a:spcAft>
                <a:spcPts val="0"/>
              </a:spcAft>
              <a:defRPr sz="1100" b="1">
                <a:solidFill>
                  <a:srgbClr val="465FFF"/>
                </a:solidFill>
                <a:latin typeface="Be Vietnam Pro"/>
              </a:defRPr>
            </a:pPr>
            <a:r>
              <a:t>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1800" y="2336800"/>
            <a:ext cx="3657600" cy="3632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8500" y="2603500"/>
            <a:ext cx="3162300" cy="5549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770"/>
              </a:lnSpc>
              <a:spcAft>
                <a:spcPts val="0"/>
              </a:spcAft>
              <a:defRPr sz="2900" b="1">
                <a:solidFill>
                  <a:srgbClr val="465FFF"/>
                </a:solidFill>
                <a:latin typeface="Be Vietnam Pro"/>
              </a:defRPr>
            </a:pPr>
            <a:r>
              <a:t>CV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" y="3467100"/>
            <a:ext cx="3162300" cy="406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600"/>
              </a:lnSpc>
              <a:spcAft>
                <a:spcPts val="0"/>
              </a:spcAft>
              <a:defRPr sz="2000" b="1">
                <a:solidFill>
                  <a:srgbClr val="192453"/>
                </a:solidFill>
                <a:latin typeface="Be Vietnam Pro"/>
              </a:defRPr>
            </a:pPr>
            <a:r>
              <a:t>Hồ sơ khoa học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8500" y="4140200"/>
            <a:ext cx="3136900" cy="8686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80"/>
              </a:lnSpc>
              <a:spcAft>
                <a:spcPts val="0"/>
              </a:spcAft>
              <a:defRPr sz="1600" b="0">
                <a:solidFill>
                  <a:srgbClr val="71809E"/>
                </a:solidFill>
                <a:latin typeface="Be Vietnam Pro"/>
              </a:defRPr>
            </a:pPr>
            <a:r>
              <a:t>Tổng hợp đề tài/dự án tham</a:t>
            </a:r>
          </a:p>
          <a:p>
            <a:pPr>
              <a:lnSpc>
                <a:spcPts val="2080"/>
              </a:lnSpc>
              <a:spcAft>
                <a:spcPts val="0"/>
              </a:spcAft>
              <a:defRPr sz="1600" b="0">
                <a:solidFill>
                  <a:srgbClr val="71809E"/>
                </a:solidFill>
                <a:latin typeface="Be Vietnam Pro"/>
              </a:defRPr>
            </a:pPr>
            <a:r>
              <a:t>gia, quá trình công tác và</a:t>
            </a:r>
          </a:p>
          <a:p>
            <a:pPr>
              <a:lnSpc>
                <a:spcPts val="2080"/>
              </a:lnSpc>
              <a:spcAft>
                <a:spcPts val="0"/>
              </a:spcAft>
              <a:defRPr sz="1600" b="0">
                <a:solidFill>
                  <a:srgbClr val="71809E"/>
                </a:solidFill>
                <a:latin typeface="Be Vietnam Pro"/>
              </a:defRPr>
            </a:pPr>
            <a:r>
              <a:t>bằng cấp. Xuất CV ra PDF.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54500" y="2336800"/>
            <a:ext cx="3657600" cy="3632200"/>
          </a:xfrm>
          <a:prstGeom prst="roundRect">
            <a:avLst>
              <a:gd name="adj" fmla="val 8000"/>
            </a:avLst>
          </a:prstGeom>
          <a:solidFill>
            <a:srgbClr val="465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1200" y="2603500"/>
            <a:ext cx="3162300" cy="5549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770"/>
              </a:lnSpc>
              <a:spcAft>
                <a:spcPts val="0"/>
              </a:spcAft>
              <a:defRPr sz="2900" b="1">
                <a:solidFill>
                  <a:srgbClr val="FFFFFF"/>
                </a:solidFill>
                <a:latin typeface="Be Vietnam Pro"/>
              </a:defRPr>
            </a:pPr>
            <a:r>
              <a:t>GIỜ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1200" y="3467100"/>
            <a:ext cx="3162300" cy="406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600"/>
              </a:lnSpc>
              <a:spcAft>
                <a:spcPts val="0"/>
              </a:spcAft>
              <a:defRPr sz="2000" b="1">
                <a:solidFill>
                  <a:srgbClr val="FFFFFF"/>
                </a:solidFill>
                <a:latin typeface="Be Vietnam Pro"/>
              </a:defRPr>
            </a:pPr>
            <a:r>
              <a:t>Quy đổi giờ giảng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1200" y="4140200"/>
            <a:ext cx="3136900" cy="8686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80"/>
              </a:lnSpc>
              <a:spcAft>
                <a:spcPts val="0"/>
              </a:spcAft>
              <a:defRPr sz="1600" b="0">
                <a:solidFill>
                  <a:srgbClr val="FFFFFF"/>
                </a:solidFill>
                <a:latin typeface="Be Vietnam Pro"/>
              </a:defRPr>
            </a:pPr>
            <a:r>
              <a:t>Khai báo hoạt động, thời gian</a:t>
            </a:r>
          </a:p>
          <a:p>
            <a:pPr>
              <a:lnSpc>
                <a:spcPts val="2080"/>
              </a:lnSpc>
              <a:spcAft>
                <a:spcPts val="0"/>
              </a:spcAft>
              <a:defRPr sz="1600" b="0">
                <a:solidFill>
                  <a:srgbClr val="FFFFFF"/>
                </a:solidFill>
                <a:latin typeface="Be Vietnam Pro"/>
              </a:defRPr>
            </a:pPr>
            <a:r>
              <a:t>và minh chứng; tra cứu hệ số</a:t>
            </a:r>
          </a:p>
          <a:p>
            <a:pPr>
              <a:lnSpc>
                <a:spcPts val="2080"/>
              </a:lnSpc>
              <a:spcAft>
                <a:spcPts val="0"/>
              </a:spcAft>
              <a:defRPr sz="1600" b="0">
                <a:solidFill>
                  <a:srgbClr val="FFFFFF"/>
                </a:solidFill>
                <a:latin typeface="Be Vietnam Pro"/>
              </a:defRPr>
            </a:pPr>
            <a:r>
              <a:t>quy đổi.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77200" y="2336800"/>
            <a:ext cx="3657600" cy="3632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43900" y="2603500"/>
            <a:ext cx="3162300" cy="5549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770"/>
              </a:lnSpc>
              <a:spcAft>
                <a:spcPts val="0"/>
              </a:spcAft>
              <a:defRPr sz="2900" b="1">
                <a:solidFill>
                  <a:srgbClr val="465FFF"/>
                </a:solidFill>
                <a:latin typeface="Be Vietnam Pro"/>
              </a:defRPr>
            </a:pPr>
            <a:r>
              <a:t>QUẢN TRỊ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43900" y="3467100"/>
            <a:ext cx="3162300" cy="406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600"/>
              </a:lnSpc>
              <a:spcAft>
                <a:spcPts val="0"/>
              </a:spcAft>
              <a:defRPr sz="2000" b="1">
                <a:solidFill>
                  <a:srgbClr val="192453"/>
                </a:solidFill>
                <a:latin typeface="Be Vietnam Pro"/>
              </a:defRPr>
            </a:pPr>
            <a:r>
              <a:t>Cấu hình &amp; phân quyền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43900" y="4140200"/>
            <a:ext cx="3136900" cy="8686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80"/>
              </a:lnSpc>
              <a:spcAft>
                <a:spcPts val="0"/>
              </a:spcAft>
              <a:defRPr sz="1600" b="0">
                <a:solidFill>
                  <a:srgbClr val="71809E"/>
                </a:solidFill>
                <a:latin typeface="Be Vietnam Pro"/>
              </a:defRPr>
            </a:pPr>
            <a:r>
              <a:t>Quản lý loại hoạt động, công</a:t>
            </a:r>
          </a:p>
          <a:p>
            <a:pPr>
              <a:lnSpc>
                <a:spcPts val="2080"/>
              </a:lnSpc>
              <a:spcAft>
                <a:spcPts val="0"/>
              </a:spcAft>
              <a:defRPr sz="1600" b="0">
                <a:solidFill>
                  <a:srgbClr val="71809E"/>
                </a:solidFill>
                <a:latin typeface="Be Vietnam Pro"/>
              </a:defRPr>
            </a:pPr>
            <a:r>
              <a:t>thức quy đổi và phê duyệt</a:t>
            </a:r>
          </a:p>
          <a:p>
            <a:pPr>
              <a:lnSpc>
                <a:spcPts val="2080"/>
              </a:lnSpc>
              <a:spcAft>
                <a:spcPts val="0"/>
              </a:spcAft>
              <a:defRPr sz="1600" b="0">
                <a:solidFill>
                  <a:srgbClr val="71809E"/>
                </a:solidFill>
                <a:latin typeface="Be Vietnam Pro"/>
              </a:defRPr>
            </a:pPr>
            <a:r>
              <a:t>quyền Tác giả.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1800" y="254000"/>
            <a:ext cx="1193800" cy="3403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80"/>
              </a:lnSpc>
              <a:spcAft>
                <a:spcPts val="0"/>
              </a:spcAft>
              <a:defRPr sz="1600" b="1">
                <a:solidFill>
                  <a:srgbClr val="465FFF"/>
                </a:solidFill>
                <a:latin typeface="Be Vietnam Pro"/>
              </a:defRPr>
            </a:pPr>
            <a:r>
              <a:t>RMS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78000" y="304800"/>
            <a:ext cx="9575800" cy="2247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70"/>
              </a:lnSpc>
              <a:spcAft>
                <a:spcPts val="0"/>
              </a:spcAft>
              <a:defRPr sz="900" b="1">
                <a:solidFill>
                  <a:srgbClr val="71809E"/>
                </a:solidFill>
                <a:latin typeface="Be Vietnam Pro"/>
              </a:defRPr>
            </a:pPr>
            <a:r>
              <a:t>MOBILE / WEB TRÊN ĐIỆN THOẠI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1800" y="812800"/>
            <a:ext cx="11226800" cy="571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900"/>
              </a:lnSpc>
              <a:spcAft>
                <a:spcPts val="0"/>
              </a:spcAft>
              <a:defRPr sz="3000" b="1">
                <a:solidFill>
                  <a:srgbClr val="192453"/>
                </a:solidFill>
                <a:latin typeface="Be Vietnam Pro"/>
              </a:defRPr>
            </a:pPr>
            <a:r>
              <a:t>Công việc trong tầm tay.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4500" y="1409700"/>
            <a:ext cx="11226800" cy="2908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90"/>
              </a:lnSpc>
              <a:spcAft>
                <a:spcPts val="0"/>
              </a:spcAft>
              <a:defRPr sz="1300" b="0">
                <a:solidFill>
                  <a:srgbClr val="71809E"/>
                </a:solidFill>
                <a:latin typeface="Be Vietnam Pro"/>
              </a:defRPr>
            </a:pPr>
            <a:r>
              <a:t>Tra cứu đề tài và theo dõi mốc báo cáo ngay khi di chuyển.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1800" y="6553200"/>
            <a:ext cx="10210800" cy="2082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40"/>
              </a:lnSpc>
              <a:spcAft>
                <a:spcPts val="0"/>
              </a:spcAft>
              <a:defRPr sz="800" b="0">
                <a:solidFill>
                  <a:srgbClr val="71809E"/>
                </a:solidFill>
                <a:latin typeface="Be Vietnam Pro"/>
              </a:defRPr>
            </a:pPr>
            <a:r>
              <a:t>RMS / GIẢI PHÁP QUẢN LÝ NGHIÊN CỨU KHOA HỌC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66500" y="6515100"/>
            <a:ext cx="495300" cy="2578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30"/>
              </a:lnSpc>
              <a:spcAft>
                <a:spcPts val="0"/>
              </a:spcAft>
              <a:defRPr sz="1100" b="1">
                <a:solidFill>
                  <a:srgbClr val="465FFF"/>
                </a:solidFill>
                <a:latin typeface="Be Vietnam Pro"/>
              </a:defRPr>
            </a:pPr>
            <a:r>
              <a:t>11</a:t>
            </a:r>
          </a:p>
        </p:txBody>
      </p:sp>
      <p:pic>
        <p:nvPicPr>
          <p:cNvPr id="9" name="Picture 8" descr="RMS-Mobi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5000" y="2006600"/>
            <a:ext cx="7467600" cy="42545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444500" y="2438400"/>
            <a:ext cx="63500" cy="622300"/>
          </a:xfrm>
          <a:prstGeom prst="rect">
            <a:avLst/>
          </a:prstGeom>
          <a:solidFill>
            <a:srgbClr val="465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3100" y="2400300"/>
            <a:ext cx="3873500" cy="42290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30"/>
              </a:lnSpc>
              <a:spcAft>
                <a:spcPts val="0"/>
              </a:spcAft>
              <a:defRPr sz="2100" b="1">
                <a:solidFill>
                  <a:srgbClr val="192453"/>
                </a:solidFill>
                <a:latin typeface="Be Vietnam Pro"/>
              </a:defRPr>
            </a:pPr>
            <a:r>
              <a:t>Biết việc cần làm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3100" y="2857500"/>
            <a:ext cx="3670300" cy="2908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90"/>
              </a:lnSpc>
              <a:spcAft>
                <a:spcPts val="0"/>
              </a:spcAft>
              <a:defRPr sz="1300" b="0">
                <a:solidFill>
                  <a:srgbClr val="71809E"/>
                </a:solidFill>
                <a:latin typeface="Be Vietnam Pro"/>
              </a:defRPr>
            </a:pPr>
            <a:r>
              <a:t>Xem mốc hạn và thông báo.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4500" y="3670300"/>
            <a:ext cx="63500" cy="622300"/>
          </a:xfrm>
          <a:prstGeom prst="rect">
            <a:avLst/>
          </a:prstGeom>
          <a:solidFill>
            <a:srgbClr val="465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3100" y="3632200"/>
            <a:ext cx="3873500" cy="42290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30"/>
              </a:lnSpc>
              <a:spcAft>
                <a:spcPts val="0"/>
              </a:spcAft>
              <a:defRPr sz="2100" b="1">
                <a:solidFill>
                  <a:srgbClr val="192453"/>
                </a:solidFill>
                <a:latin typeface="Be Vietnam Pro"/>
              </a:defRPr>
            </a:pPr>
            <a:r>
              <a:t>Tra cứu nhanh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3100" y="4089400"/>
            <a:ext cx="3670300" cy="2908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90"/>
              </a:lnSpc>
              <a:spcAft>
                <a:spcPts val="0"/>
              </a:spcAft>
              <a:defRPr sz="1300" b="0">
                <a:solidFill>
                  <a:srgbClr val="71809E"/>
                </a:solidFill>
                <a:latin typeface="Be Vietnam Pro"/>
              </a:defRPr>
            </a:pPr>
            <a:r>
              <a:t>Mở hồ sơ đề tài liên quan.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4500" y="4902200"/>
            <a:ext cx="63500" cy="622300"/>
          </a:xfrm>
          <a:prstGeom prst="rect">
            <a:avLst/>
          </a:prstGeom>
          <a:solidFill>
            <a:srgbClr val="465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3100" y="4864100"/>
            <a:ext cx="3873500" cy="42290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30"/>
              </a:lnSpc>
              <a:spcAft>
                <a:spcPts val="0"/>
              </a:spcAft>
              <a:defRPr sz="2100" b="1">
                <a:solidFill>
                  <a:srgbClr val="192453"/>
                </a:solidFill>
                <a:latin typeface="Be Vietnam Pro"/>
              </a:defRPr>
            </a:pPr>
            <a:r>
              <a:t>Dữ liệu thống nhất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3100" y="5321300"/>
            <a:ext cx="3670300" cy="2908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90"/>
              </a:lnSpc>
              <a:spcAft>
                <a:spcPts val="0"/>
              </a:spcAft>
              <a:defRPr sz="1300" b="0">
                <a:solidFill>
                  <a:srgbClr val="71809E"/>
                </a:solidFill>
                <a:latin typeface="Be Vietnam Pro"/>
              </a:defRPr>
            </a:pPr>
            <a:r>
              <a:t>Cùng thông tin, cùng phân quyền.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27900" y="6223000"/>
            <a:ext cx="4622800" cy="2082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40"/>
              </a:lnSpc>
              <a:spcAft>
                <a:spcPts val="0"/>
              </a:spcAft>
              <a:defRPr sz="800" b="0">
                <a:solidFill>
                  <a:srgbClr val="71809E"/>
                </a:solidFill>
                <a:latin typeface="Be Vietnam Pro"/>
              </a:defRPr>
            </a:pPr>
            <a:r>
              <a:t>Minh họa giao diện web trên di động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1800" y="254000"/>
            <a:ext cx="1193800" cy="3403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80"/>
              </a:lnSpc>
              <a:spcAft>
                <a:spcPts val="0"/>
              </a:spcAft>
              <a:defRPr sz="1600" b="1">
                <a:solidFill>
                  <a:srgbClr val="465FFF"/>
                </a:solidFill>
                <a:latin typeface="Be Vietnam Pro"/>
              </a:defRPr>
            </a:pPr>
            <a:r>
              <a:t>RMS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78000" y="304800"/>
            <a:ext cx="9575800" cy="2247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70"/>
              </a:lnSpc>
              <a:spcAft>
                <a:spcPts val="0"/>
              </a:spcAft>
              <a:defRPr sz="900" b="1">
                <a:solidFill>
                  <a:srgbClr val="71809E"/>
                </a:solidFill>
                <a:latin typeface="Be Vietnam Pro"/>
              </a:defRPr>
            </a:pPr>
            <a:r>
              <a:t>PHÙ HỢP ĐƠN VỊ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1800" y="812800"/>
            <a:ext cx="11226800" cy="571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900"/>
              </a:lnSpc>
              <a:spcAft>
                <a:spcPts val="0"/>
              </a:spcAft>
              <a:defRPr sz="3000" b="1">
                <a:solidFill>
                  <a:srgbClr val="192453"/>
                </a:solidFill>
                <a:latin typeface="Be Vietnam Pro"/>
              </a:defRPr>
            </a:pPr>
            <a:r>
              <a:t>Ba nhóm đơn vị. Một nền tảng kết nối.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4500" y="1409700"/>
            <a:ext cx="11226800" cy="2908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90"/>
              </a:lnSpc>
              <a:spcAft>
                <a:spcPts val="0"/>
              </a:spcAft>
              <a:defRPr sz="1300" b="0">
                <a:solidFill>
                  <a:srgbClr val="71809E"/>
                </a:solidFill>
                <a:latin typeface="Be Vietnam Pro"/>
              </a:defRPr>
            </a:pPr>
            <a:r>
              <a:t>Tập trung vào nhu cầu quản trị nghiên cứu của từng tổ chức.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1800" y="6553200"/>
            <a:ext cx="10210800" cy="2082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40"/>
              </a:lnSpc>
              <a:spcAft>
                <a:spcPts val="0"/>
              </a:spcAft>
              <a:defRPr sz="800" b="0">
                <a:solidFill>
                  <a:srgbClr val="71809E"/>
                </a:solidFill>
                <a:latin typeface="Be Vietnam Pro"/>
              </a:defRPr>
            </a:pPr>
            <a:r>
              <a:t>RMS / GIẢI PHÁP QUẢN LÝ NGHIÊN CỨU KHOA HỌC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66500" y="6515100"/>
            <a:ext cx="495300" cy="2578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30"/>
              </a:lnSpc>
              <a:spcAft>
                <a:spcPts val="0"/>
              </a:spcAft>
              <a:defRPr sz="1100" b="1">
                <a:solidFill>
                  <a:srgbClr val="465FFF"/>
                </a:solidFill>
                <a:latin typeface="Be Vietnam Pro"/>
              </a:defRPr>
            </a:pPr>
            <a:r>
              <a:t>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1800" y="2260600"/>
            <a:ext cx="3657600" cy="37973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1800" y="2260600"/>
            <a:ext cx="3657600" cy="88900"/>
          </a:xfrm>
          <a:prstGeom prst="rect">
            <a:avLst/>
          </a:prstGeom>
          <a:solidFill>
            <a:srgbClr val="465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8500" y="2540000"/>
            <a:ext cx="3098800" cy="6210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290"/>
              </a:lnSpc>
              <a:spcAft>
                <a:spcPts val="0"/>
              </a:spcAft>
              <a:defRPr sz="3300" b="1">
                <a:solidFill>
                  <a:srgbClr val="465FFF"/>
                </a:solidFill>
                <a:latin typeface="Be Vietnam Pro"/>
              </a:defRPr>
            </a:pPr>
            <a: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8500" y="3327400"/>
            <a:ext cx="3187700" cy="42290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30"/>
              </a:lnSpc>
              <a:spcAft>
                <a:spcPts val="0"/>
              </a:spcAft>
              <a:defRPr sz="2100" b="1">
                <a:solidFill>
                  <a:srgbClr val="192453"/>
                </a:solidFill>
                <a:latin typeface="Be Vietnam Pro"/>
              </a:defRPr>
            </a:pPr>
            <a:r>
              <a:t>Sở, ban, ngành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8500" y="3924300"/>
            <a:ext cx="3200400" cy="2908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90"/>
              </a:lnSpc>
              <a:spcAft>
                <a:spcPts val="0"/>
              </a:spcAft>
              <a:defRPr sz="1300" b="1">
                <a:solidFill>
                  <a:srgbClr val="465FFF"/>
                </a:solidFill>
                <a:latin typeface="Be Vietnam Pro"/>
              </a:defRPr>
            </a:pPr>
            <a:r>
              <a:t>Danh mục &amp; trách nhiệm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8500" y="4457700"/>
            <a:ext cx="3124200" cy="8686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80"/>
              </a:lnSpc>
              <a:spcAft>
                <a:spcPts val="0"/>
              </a:spcAft>
              <a:defRPr sz="1600" b="0">
                <a:solidFill>
                  <a:srgbClr val="71809E"/>
                </a:solidFill>
                <a:latin typeface="Be Vietnam Pro"/>
              </a:defRPr>
            </a:pPr>
            <a:r>
              <a:t>Theo dõi nhiệm vụ, hồ sơ giao</a:t>
            </a:r>
          </a:p>
          <a:p>
            <a:pPr>
              <a:lnSpc>
                <a:spcPts val="2080"/>
              </a:lnSpc>
              <a:spcAft>
                <a:spcPts val="0"/>
              </a:spcAft>
              <a:defRPr sz="1600" b="0">
                <a:solidFill>
                  <a:srgbClr val="71809E"/>
                </a:solidFill>
                <a:latin typeface="Be Vietnam Pro"/>
              </a:defRPr>
            </a:pPr>
            <a:r>
              <a:t>khoán, kinh phí và kết quả</a:t>
            </a:r>
          </a:p>
          <a:p>
            <a:pPr>
              <a:lnSpc>
                <a:spcPts val="2080"/>
              </a:lnSpc>
              <a:spcAft>
                <a:spcPts val="0"/>
              </a:spcAft>
              <a:defRPr sz="1600" b="0">
                <a:solidFill>
                  <a:srgbClr val="71809E"/>
                </a:solidFill>
                <a:latin typeface="Be Vietnam Pro"/>
              </a:defRPr>
            </a:pPr>
            <a:r>
              <a:t>đánh giá.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54500" y="2260600"/>
            <a:ext cx="3657600" cy="37973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54500" y="2260600"/>
            <a:ext cx="3657600" cy="88900"/>
          </a:xfrm>
          <a:prstGeom prst="rect">
            <a:avLst/>
          </a:prstGeom>
          <a:solidFill>
            <a:srgbClr val="465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21200" y="2540000"/>
            <a:ext cx="3098800" cy="6210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290"/>
              </a:lnSpc>
              <a:spcAft>
                <a:spcPts val="0"/>
              </a:spcAft>
              <a:defRPr sz="3300" b="1">
                <a:solidFill>
                  <a:srgbClr val="465FFF"/>
                </a:solidFill>
                <a:latin typeface="Be Vietnam Pro"/>
              </a:defRPr>
            </a:pPr>
            <a: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1200" y="3327400"/>
            <a:ext cx="3187700" cy="42290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30"/>
              </a:lnSpc>
              <a:spcAft>
                <a:spcPts val="0"/>
              </a:spcAft>
              <a:defRPr sz="2100" b="1">
                <a:solidFill>
                  <a:srgbClr val="192453"/>
                </a:solidFill>
                <a:latin typeface="Be Vietnam Pro"/>
              </a:defRPr>
            </a:pPr>
            <a:r>
              <a:t>Trường đại học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21200" y="3924300"/>
            <a:ext cx="3200400" cy="2908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90"/>
              </a:lnSpc>
              <a:spcAft>
                <a:spcPts val="0"/>
              </a:spcAft>
              <a:defRPr sz="1300" b="1">
                <a:solidFill>
                  <a:srgbClr val="465FFF"/>
                </a:solidFill>
                <a:latin typeface="Be Vietnam Pro"/>
              </a:defRPr>
            </a:pPr>
            <a:r>
              <a:t>Đề tài &amp; thành quả học thuật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21200" y="4457700"/>
            <a:ext cx="3124200" cy="8686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80"/>
              </a:lnSpc>
              <a:spcAft>
                <a:spcPts val="0"/>
              </a:spcAft>
              <a:defRPr sz="1600" b="0">
                <a:solidFill>
                  <a:srgbClr val="71809E"/>
                </a:solidFill>
                <a:latin typeface="Be Vietnam Pro"/>
              </a:defRPr>
            </a:pPr>
            <a:r>
              <a:t>Kết nối đợt đăng ký, giảng</a:t>
            </a:r>
          </a:p>
          <a:p>
            <a:pPr>
              <a:lnSpc>
                <a:spcPts val="2080"/>
              </a:lnSpc>
              <a:spcAft>
                <a:spcPts val="0"/>
              </a:spcAft>
              <a:defRPr sz="1600" b="0">
                <a:solidFill>
                  <a:srgbClr val="71809E"/>
                </a:solidFill>
                <a:latin typeface="Be Vietnam Pro"/>
              </a:defRPr>
            </a:pPr>
            <a:r>
              <a:t>viên, CV khoa học và giờ</a:t>
            </a:r>
          </a:p>
          <a:p>
            <a:pPr>
              <a:lnSpc>
                <a:spcPts val="2080"/>
              </a:lnSpc>
              <a:spcAft>
                <a:spcPts val="0"/>
              </a:spcAft>
              <a:defRPr sz="1600" b="0">
                <a:solidFill>
                  <a:srgbClr val="71809E"/>
                </a:solidFill>
                <a:latin typeface="Be Vietnam Pro"/>
              </a:defRPr>
            </a:pPr>
            <a:r>
              <a:t>giảng quy đổi.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77200" y="2260600"/>
            <a:ext cx="3657600" cy="37973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77200" y="2260600"/>
            <a:ext cx="3657600" cy="88900"/>
          </a:xfrm>
          <a:prstGeom prst="rect">
            <a:avLst/>
          </a:prstGeom>
          <a:solidFill>
            <a:srgbClr val="465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43900" y="2540000"/>
            <a:ext cx="3098800" cy="6210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290"/>
              </a:lnSpc>
              <a:spcAft>
                <a:spcPts val="0"/>
              </a:spcAft>
              <a:defRPr sz="3300" b="1">
                <a:solidFill>
                  <a:srgbClr val="465FFF"/>
                </a:solidFill>
                <a:latin typeface="Be Vietnam Pro"/>
              </a:defRPr>
            </a:pPr>
            <a: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43900" y="3327400"/>
            <a:ext cx="3187700" cy="42290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30"/>
              </a:lnSpc>
              <a:spcAft>
                <a:spcPts val="0"/>
              </a:spcAft>
              <a:defRPr sz="2100" b="1">
                <a:solidFill>
                  <a:srgbClr val="192453"/>
                </a:solidFill>
                <a:latin typeface="Be Vietnam Pro"/>
              </a:defRPr>
            </a:pPr>
            <a:r>
              <a:t>Bệnh viện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43900" y="3924300"/>
            <a:ext cx="3200400" cy="2908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90"/>
              </a:lnSpc>
              <a:spcAft>
                <a:spcPts val="0"/>
              </a:spcAft>
              <a:defRPr sz="1300" b="1">
                <a:solidFill>
                  <a:srgbClr val="465FFF"/>
                </a:solidFill>
                <a:latin typeface="Be Vietnam Pro"/>
              </a:defRPr>
            </a:pPr>
            <a:r>
              <a:t>Khoa/phòng &amp; nghiên cứu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43900" y="4457700"/>
            <a:ext cx="3124200" cy="8686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80"/>
              </a:lnSpc>
              <a:spcAft>
                <a:spcPts val="0"/>
              </a:spcAft>
              <a:defRPr sz="1600" b="0">
                <a:solidFill>
                  <a:srgbClr val="71809E"/>
                </a:solidFill>
                <a:latin typeface="Be Vietnam Pro"/>
              </a:defRPr>
            </a:pPr>
            <a:r>
              <a:t>Quản lý đề tài, nhóm nghiên</a:t>
            </a:r>
          </a:p>
          <a:p>
            <a:pPr>
              <a:lnSpc>
                <a:spcPts val="2080"/>
              </a:lnSpc>
              <a:spcAft>
                <a:spcPts val="0"/>
              </a:spcAft>
              <a:defRPr sz="1600" b="0">
                <a:solidFill>
                  <a:srgbClr val="71809E"/>
                </a:solidFill>
                <a:latin typeface="Be Vietnam Pro"/>
              </a:defRPr>
            </a:pPr>
            <a:r>
              <a:t>cứu, hội đồng và các mốc báo</a:t>
            </a:r>
          </a:p>
          <a:p>
            <a:pPr>
              <a:lnSpc>
                <a:spcPts val="2080"/>
              </a:lnSpc>
              <a:spcAft>
                <a:spcPts val="0"/>
              </a:spcAft>
              <a:defRPr sz="1600" b="0">
                <a:solidFill>
                  <a:srgbClr val="71809E"/>
                </a:solidFill>
                <a:latin typeface="Be Vietnam Pro"/>
              </a:defRPr>
            </a:pPr>
            <a:r>
              <a:t>cáo.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924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1800" y="254000"/>
            <a:ext cx="1193800" cy="3403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80"/>
              </a:lnSpc>
              <a:spcAft>
                <a:spcPts val="0"/>
              </a:spcAft>
              <a:defRPr sz="1600" b="1">
                <a:solidFill>
                  <a:srgbClr val="FFFFFF"/>
                </a:solidFill>
                <a:latin typeface="Be Vietnam Pro"/>
              </a:defRPr>
            </a:pPr>
            <a:r>
              <a:t>RMS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78000" y="304800"/>
            <a:ext cx="9575800" cy="2247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70"/>
              </a:lnSpc>
              <a:spcAft>
                <a:spcPts val="0"/>
              </a:spcAft>
              <a:defRPr sz="900" b="1">
                <a:solidFill>
                  <a:srgbClr val="BAC7FF"/>
                </a:solidFill>
                <a:latin typeface="Be Vietnam Pro"/>
              </a:defRPr>
            </a:pPr>
            <a:r>
              <a:t>ĐỀ XUẤT HỢP TÁC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1800" y="6553200"/>
            <a:ext cx="10210800" cy="2082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40"/>
              </a:lnSpc>
              <a:spcAft>
                <a:spcPts val="0"/>
              </a:spcAft>
              <a:defRPr sz="800" b="0">
                <a:solidFill>
                  <a:srgbClr val="B4C1EC"/>
                </a:solidFill>
                <a:latin typeface="Be Vietnam Pro"/>
              </a:defRPr>
            </a:pPr>
            <a:r>
              <a:t>RMS / GIẢI PHÁP QUẢN LÝ NGHIÊN CỨU KHOA HỌC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6500" y="6515100"/>
            <a:ext cx="495300" cy="25781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30"/>
              </a:lnSpc>
              <a:spcAft>
                <a:spcPts val="0"/>
              </a:spcAft>
              <a:defRPr sz="1100" b="1">
                <a:solidFill>
                  <a:srgbClr val="FFFFFF"/>
                </a:solidFill>
                <a:latin typeface="Be Vietnam Pro"/>
              </a:defRPr>
            </a:pPr>
            <a: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1800" y="1143000"/>
            <a:ext cx="7924800" cy="14960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5590"/>
              </a:lnSpc>
              <a:spcAft>
                <a:spcPts val="0"/>
              </a:spcAft>
              <a:defRPr sz="4300" b="1">
                <a:solidFill>
                  <a:srgbClr val="FFFFFF"/>
                </a:solidFill>
                <a:latin typeface="Be Vietnam Pro"/>
              </a:defRPr>
            </a:pPr>
            <a:r>
              <a:t>Bắt đầu từ bài toán</a:t>
            </a:r>
          </a:p>
          <a:p>
            <a:pPr>
              <a:lnSpc>
                <a:spcPts val="5590"/>
              </a:lnSpc>
              <a:spcAft>
                <a:spcPts val="0"/>
              </a:spcAft>
              <a:defRPr sz="4300" b="1">
                <a:solidFill>
                  <a:srgbClr val="FFFFFF"/>
                </a:solidFill>
                <a:latin typeface="Be Vietnam Pro"/>
              </a:defRPr>
            </a:pPr>
            <a:r>
              <a:t>ưu tiên của đơn vị.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730500"/>
            <a:ext cx="8369300" cy="7035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70"/>
              </a:lnSpc>
              <a:spcAft>
                <a:spcPts val="0"/>
              </a:spcAft>
              <a:defRPr sz="1900" b="0">
                <a:solidFill>
                  <a:srgbClr val="D1DAFF"/>
                </a:solidFill>
                <a:latin typeface="Be Vietnam Pro"/>
              </a:defRPr>
            </a:pPr>
            <a:r>
              <a:t>Thống nhất phạm vi để xây dựng phương án</a:t>
            </a:r>
          </a:p>
          <a:p>
            <a:pPr>
              <a:lnSpc>
                <a:spcPts val="2470"/>
              </a:lnSpc>
              <a:spcAft>
                <a:spcPts val="0"/>
              </a:spcAft>
              <a:defRPr sz="1900" b="0">
                <a:solidFill>
                  <a:srgbClr val="D1DAFF"/>
                </a:solidFill>
                <a:latin typeface="Be Vietnam Pro"/>
              </a:defRPr>
            </a:pPr>
            <a:r>
              <a:t>triển khai và đầu tư phù hợp.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1800" y="4254500"/>
            <a:ext cx="3657600" cy="1549400"/>
          </a:xfrm>
          <a:prstGeom prst="roundRect">
            <a:avLst>
              <a:gd name="adj" fmla="val 8000"/>
            </a:avLst>
          </a:prstGeom>
          <a:solidFill>
            <a:srgbClr val="2533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4508500"/>
            <a:ext cx="3213100" cy="4394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860"/>
              </a:lnSpc>
              <a:spcAft>
                <a:spcPts val="0"/>
              </a:spcAft>
              <a:defRPr sz="2200" b="1">
                <a:solidFill>
                  <a:srgbClr val="FFFFFF"/>
                </a:solidFill>
                <a:latin typeface="Be Vietnam Pro"/>
              </a:defRPr>
            </a:pPr>
            <a:r>
              <a:t>01 Khảo sát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5143500"/>
            <a:ext cx="3213100" cy="3238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50"/>
              </a:lnSpc>
              <a:spcAft>
                <a:spcPts val="0"/>
              </a:spcAft>
              <a:defRPr sz="1500" b="0">
                <a:solidFill>
                  <a:srgbClr val="D6DEFF"/>
                </a:solidFill>
                <a:latin typeface="Be Vietnam Pro"/>
              </a:defRPr>
            </a:pPr>
            <a:r>
              <a:t>Quy trình &amp; dữ liệu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54500" y="4254500"/>
            <a:ext cx="3657600" cy="1549400"/>
          </a:xfrm>
          <a:prstGeom prst="roundRect">
            <a:avLst>
              <a:gd name="adj" fmla="val 8000"/>
            </a:avLst>
          </a:prstGeom>
          <a:solidFill>
            <a:srgbClr val="465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08500" y="4508500"/>
            <a:ext cx="3213100" cy="4394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860"/>
              </a:lnSpc>
              <a:spcAft>
                <a:spcPts val="0"/>
              </a:spcAft>
              <a:defRPr sz="2200" b="1">
                <a:solidFill>
                  <a:srgbClr val="FFFFFF"/>
                </a:solidFill>
                <a:latin typeface="Be Vietnam Pro"/>
              </a:defRPr>
            </a:pPr>
            <a:r>
              <a:t>02 Thống nhất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08500" y="5143500"/>
            <a:ext cx="3213100" cy="3238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50"/>
              </a:lnSpc>
              <a:spcAft>
                <a:spcPts val="0"/>
              </a:spcAft>
              <a:defRPr sz="1500" b="0">
                <a:solidFill>
                  <a:srgbClr val="D6DEFF"/>
                </a:solidFill>
                <a:latin typeface="Be Vietnam Pro"/>
              </a:defRPr>
            </a:pPr>
            <a:r>
              <a:t>Phạm vi &amp; phương án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77200" y="4254500"/>
            <a:ext cx="3657600" cy="1549400"/>
          </a:xfrm>
          <a:prstGeom prst="roundRect">
            <a:avLst>
              <a:gd name="adj" fmla="val 8000"/>
            </a:avLst>
          </a:prstGeom>
          <a:solidFill>
            <a:srgbClr val="2533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31200" y="4508500"/>
            <a:ext cx="3213100" cy="4394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860"/>
              </a:lnSpc>
              <a:spcAft>
                <a:spcPts val="0"/>
              </a:spcAft>
              <a:defRPr sz="2200" b="1">
                <a:solidFill>
                  <a:srgbClr val="FFFFFF"/>
                </a:solidFill>
                <a:latin typeface="Be Vietnam Pro"/>
              </a:defRPr>
            </a:pPr>
            <a:r>
              <a:t>03 Triển khai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31200" y="5143500"/>
            <a:ext cx="3213100" cy="3238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50"/>
              </a:lnSpc>
              <a:spcAft>
                <a:spcPts val="0"/>
              </a:spcAft>
              <a:defRPr sz="1500" b="0">
                <a:solidFill>
                  <a:srgbClr val="D6DEFF"/>
                </a:solidFill>
                <a:latin typeface="Be Vietnam Pro"/>
              </a:defRPr>
            </a:pPr>
            <a:r>
              <a:t>Đào tạo &amp; bàn giao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RMS — Kết nối nghiên cứu, nâng tầm quản trị</dc:title>
  <dc:subject/>
  <dc:creator>RMS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