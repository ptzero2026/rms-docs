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3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8000" y="444500"/>
            <a:ext cx="317500" cy="50800"/>
          </a:xfrm>
          <a:prstGeom prst="rect">
            <a:avLst/>
          </a:prstGeom>
          <a:solidFill>
            <a:srgbClr val="D6E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5200" y="342900"/>
            <a:ext cx="10083800" cy="2730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D6EF9B"/>
                </a:solidFill>
                <a:latin typeface="Be Vietnam Pro"/>
              </a:defRPr>
            </a:pPr>
            <a:r>
              <a:t>ĐỀ XUẤT GIẢI PHÁP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876300"/>
            <a:ext cx="11226800" cy="10002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538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FFFFFF"/>
                </a:solidFill>
                <a:latin typeface="Be Vietnam Pro"/>
              </a:defRPr>
            </a:pPr>
            <a:r>
              <a:t>Quản lý nghiên cứu khoa học</a:t>
            </a:r>
          </a:p>
          <a:p>
            <a:pPr>
              <a:lnSpc>
                <a:spcPts val="3538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FFFFFF"/>
                </a:solidFill>
                <a:latin typeface="Be Vietnam Pro"/>
              </a:defRPr>
            </a:pPr>
            <a:r>
              <a:t>Tập trung. Minh bạch. Xuyên suốt.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8000" y="6350000"/>
            <a:ext cx="11176000" cy="12700"/>
          </a:xfrm>
          <a:prstGeom prst="rect">
            <a:avLst/>
          </a:prstGeom>
          <a:solidFill>
            <a:srgbClr val="597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8000" y="6489700"/>
            <a:ext cx="9956800" cy="238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D8E2DC"/>
                </a:solidFill>
                <a:latin typeface="Be Vietnam Pro"/>
              </a:defRPr>
            </a:pPr>
            <a:r>
              <a:t>RMS / BẢN CHÀO GIẢI PHÁP • 09.2026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03000" y="6451600"/>
            <a:ext cx="431800" cy="2901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D6EF9B"/>
                </a:solidFill>
                <a:latin typeface="Be Vietnam Pro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8000" y="2603500"/>
            <a:ext cx="6908800" cy="14046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260"/>
              </a:lnSpc>
              <a:spcBef>
                <a:spcPts val="0"/>
              </a:spcBef>
              <a:spcAft>
                <a:spcPts val="0"/>
              </a:spcAft>
              <a:defRPr sz="7600" b="1">
                <a:solidFill>
                  <a:srgbClr val="FFFFFF"/>
                </a:solidFill>
                <a:latin typeface="Be Vietnam Pro"/>
              </a:defRPr>
            </a:pPr>
            <a:r>
              <a:t>RMS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4191000"/>
            <a:ext cx="9194800" cy="8216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835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FFFFFF"/>
                </a:solidFill>
                <a:latin typeface="Be Vietnam Pro"/>
              </a:defRPr>
            </a:pPr>
            <a:r>
              <a:t>Một nền tảng kết nối hồ sơ, tiến độ, kinh phí</a:t>
            </a:r>
          </a:p>
          <a:p>
            <a:pPr>
              <a:lnSpc>
                <a:spcPts val="2835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FFFFFF"/>
                </a:solidFill>
                <a:latin typeface="Be Vietnam Pro"/>
              </a:defRPr>
            </a:pPr>
            <a:r>
              <a:t>và kết quả nghiên cứu.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5626100"/>
            <a:ext cx="10845800" cy="3073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D6EF9B"/>
                </a:solidFill>
                <a:latin typeface="Be Vietnam Pro"/>
              </a:defRPr>
            </a:pPr>
            <a:r>
              <a:t>SỞ, BAN, NGÀNH / TRƯỜNG ĐẠI HỌC / BỆNH VIỆN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8000" y="444500"/>
            <a:ext cx="317500" cy="50800"/>
          </a:xfrm>
          <a:prstGeom prst="rect">
            <a:avLst/>
          </a:prstGeom>
          <a:solidFill>
            <a:srgbClr val="137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5200" y="342900"/>
            <a:ext cx="10083800" cy="2730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37C66"/>
                </a:solidFill>
                <a:latin typeface="Be Vietnam Pro"/>
              </a:defRPr>
            </a:pPr>
            <a:r>
              <a:t>01 / TÓM TẮT ĐIỀU HÀNH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876300"/>
            <a:ext cx="11226800" cy="5509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538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23C38"/>
                </a:solidFill>
                <a:latin typeface="Be Vietnam Pro"/>
              </a:defRPr>
            </a:pPr>
            <a:r>
              <a:t>Một nguồn dữ liệu cho cả vòng đời nghiên cứu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1943100"/>
            <a:ext cx="10972800" cy="3244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55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9706A"/>
                </a:solidFill>
                <a:latin typeface="Be Vietnam Pro"/>
              </a:defRPr>
            </a:pPr>
            <a:r>
              <a:t>Đề xuất số hóa quy trình trước, chuẩn hóa dữ liệu và đo hiệu quả qua một đợt thí điểm.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8000" y="6350000"/>
            <a:ext cx="11176000" cy="12700"/>
          </a:xfrm>
          <a:prstGeom prst="rect">
            <a:avLst/>
          </a:prstGeom>
          <a:solidFill>
            <a:srgbClr val="D8E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8000" y="6489700"/>
            <a:ext cx="9956800" cy="238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59706A"/>
                </a:solidFill>
                <a:latin typeface="Be Vietnam Pro"/>
              </a:defRPr>
            </a:pPr>
            <a:r>
              <a:t>RMS / BẢN CHÀO GIẢI PHÁP • 09.2026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03000" y="6451600"/>
            <a:ext cx="431800" cy="2901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37C66"/>
                </a:solidFill>
                <a:latin typeface="Be Vietnam Pro"/>
              </a:defRPr>
            </a:pPr>
            <a: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8000" y="2743200"/>
            <a:ext cx="3556000" cy="279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8000" y="2743200"/>
            <a:ext cx="38100" cy="444500"/>
          </a:xfrm>
          <a:prstGeom prst="rect">
            <a:avLst/>
          </a:prstGeom>
          <a:solidFill>
            <a:srgbClr val="137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6600" y="2959100"/>
            <a:ext cx="3149600" cy="2901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37C66"/>
                </a:solidFill>
                <a:latin typeface="Be Vietnam Pro"/>
              </a:defRPr>
            </a:pPr>
            <a: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600" y="3365500"/>
            <a:ext cx="3149600" cy="4102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23C38"/>
                </a:solidFill>
                <a:latin typeface="Be Vietnam Pro"/>
              </a:defRPr>
            </a:pPr>
            <a:r>
              <a:t>Cho lãnh đạo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600" y="4089400"/>
            <a:ext cx="3149600" cy="5816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9706A"/>
                </a:solidFill>
                <a:latin typeface="Be Vietnam Pro"/>
              </a:defRPr>
            </a:pPr>
            <a:r>
              <a:t>Nắm danh mục, tiến độ và kết quả</a:t>
            </a:r>
          </a:p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9706A"/>
                </a:solidFill>
                <a:latin typeface="Be Vietnam Pro"/>
              </a:defRPr>
            </a:pPr>
            <a:r>
              <a:t>để ưu tiên nguồn lực.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18000" y="2743200"/>
            <a:ext cx="3556000" cy="279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18000" y="2743200"/>
            <a:ext cx="38100" cy="444500"/>
          </a:xfrm>
          <a:prstGeom prst="rect">
            <a:avLst/>
          </a:prstGeom>
          <a:solidFill>
            <a:srgbClr val="137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46600" y="2959100"/>
            <a:ext cx="3149600" cy="2901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37C66"/>
                </a:solidFill>
                <a:latin typeface="Be Vietnam Pro"/>
              </a:defRPr>
            </a:pPr>
            <a: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46600" y="3365500"/>
            <a:ext cx="3149600" cy="4102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23C38"/>
                </a:solidFill>
                <a:latin typeface="Be Vietnam Pro"/>
              </a:defRPr>
            </a:pPr>
            <a:r>
              <a:t>Cho chuyên viên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46600" y="4089400"/>
            <a:ext cx="3149600" cy="5816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9706A"/>
                </a:solidFill>
                <a:latin typeface="Be Vietnam Pro"/>
              </a:defRPr>
            </a:pPr>
            <a:r>
              <a:t>Theo dõi hồ sơ, hội đồng và mốc xử</a:t>
            </a:r>
          </a:p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9706A"/>
                </a:solidFill>
                <a:latin typeface="Be Vietnam Pro"/>
              </a:defRPr>
            </a:pPr>
            <a:r>
              <a:t>lý trên cùng hệ thống.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28000" y="2743200"/>
            <a:ext cx="3556000" cy="279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28000" y="2743200"/>
            <a:ext cx="38100" cy="444500"/>
          </a:xfrm>
          <a:prstGeom prst="rect">
            <a:avLst/>
          </a:prstGeom>
          <a:solidFill>
            <a:srgbClr val="137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56600" y="2959100"/>
            <a:ext cx="3149600" cy="2901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37C66"/>
                </a:solidFill>
                <a:latin typeface="Be Vietnam Pro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56600" y="3365500"/>
            <a:ext cx="3149600" cy="4102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23C38"/>
                </a:solidFill>
                <a:latin typeface="Be Vietnam Pro"/>
              </a:defRPr>
            </a:pPr>
            <a:r>
              <a:t>Cho nhà nghiên cứu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56600" y="4089400"/>
            <a:ext cx="3149600" cy="5816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9706A"/>
                </a:solidFill>
                <a:latin typeface="Be Vietnam Pro"/>
              </a:defRPr>
            </a:pPr>
            <a:r>
              <a:t>Nộp hồ sơ, cập nhật tiến độ và ghi</a:t>
            </a:r>
          </a:p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9706A"/>
                </a:solidFill>
                <a:latin typeface="Be Vietnam Pro"/>
              </a:defRPr>
            </a:pPr>
            <a:r>
              <a:t>nhận sản phẩm tập trung.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8000" y="5803900"/>
            <a:ext cx="11099800" cy="3416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37C66"/>
                </a:solidFill>
                <a:latin typeface="Be Vietnam Pro"/>
              </a:defRPr>
            </a:pPr>
            <a:r>
              <a:t>Quyết định đề nghị: thống nhất đầu mối và phạm vi khảo sát để xây dựng phương án thí điểm.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8000" y="444500"/>
            <a:ext cx="317500" cy="50800"/>
          </a:xfrm>
          <a:prstGeom prst="rect">
            <a:avLst/>
          </a:prstGeom>
          <a:solidFill>
            <a:srgbClr val="137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5200" y="342900"/>
            <a:ext cx="10083800" cy="2730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37C66"/>
                </a:solidFill>
                <a:latin typeface="Be Vietnam Pro"/>
              </a:defRPr>
            </a:pPr>
            <a:r>
              <a:t>02 / BÀI TOÁN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876300"/>
            <a:ext cx="11226800" cy="5509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538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23C38"/>
                </a:solidFill>
                <a:latin typeface="Be Vietnam Pro"/>
              </a:defRPr>
            </a:pPr>
            <a:r>
              <a:t>Dữ liệu rời rạc làm chậm quyết định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1943100"/>
            <a:ext cx="10972800" cy="3244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55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9706A"/>
                </a:solidFill>
                <a:latin typeface="Be Vietnam Pro"/>
              </a:defRPr>
            </a:pPr>
            <a:r>
              <a:t>Kết nối thông tin để giảm thao tác thủ công và tăng hiệu quả phối hợp.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8000" y="6350000"/>
            <a:ext cx="11176000" cy="12700"/>
          </a:xfrm>
          <a:prstGeom prst="rect">
            <a:avLst/>
          </a:prstGeom>
          <a:solidFill>
            <a:srgbClr val="D8E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8000" y="6489700"/>
            <a:ext cx="9956800" cy="238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59706A"/>
                </a:solidFill>
                <a:latin typeface="Be Vietnam Pro"/>
              </a:defRPr>
            </a:pPr>
            <a:r>
              <a:t>RMS / BẢN CHÀO GIẢI PHÁP • 09.2026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03000" y="6451600"/>
            <a:ext cx="431800" cy="2901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37C66"/>
                </a:solidFill>
                <a:latin typeface="Be Vietnam Pro"/>
              </a:defRPr>
            </a:pPr>
            <a: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8000" y="2692400"/>
            <a:ext cx="4051300" cy="3930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9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23C38"/>
                </a:solidFill>
                <a:latin typeface="Be Vietnam Pro"/>
              </a:defRPr>
            </a:pPr>
            <a:r>
              <a:t>Hồ sơ qua nhiều kênh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87900" y="2692400"/>
            <a:ext cx="6718300" cy="375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9706A"/>
                </a:solidFill>
                <a:latin typeface="Be Vietnam Pro"/>
              </a:defRPr>
            </a:pPr>
            <a:r>
              <a:t>Khó xác định bản mới nhất và người đang xử lý.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8000" y="3276600"/>
            <a:ext cx="11176000" cy="12700"/>
          </a:xfrm>
          <a:prstGeom prst="rect">
            <a:avLst/>
          </a:prstGeom>
          <a:solidFill>
            <a:srgbClr val="D8E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8000" y="3492500"/>
            <a:ext cx="4051300" cy="3930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9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23C38"/>
                </a:solidFill>
                <a:latin typeface="Be Vietnam Pro"/>
              </a:defRPr>
            </a:pPr>
            <a:r>
              <a:t>Tiến độ theo dõi thủ công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87900" y="3492500"/>
            <a:ext cx="6718300" cy="375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9706A"/>
                </a:solidFill>
                <a:latin typeface="Be Vietnam Pro"/>
              </a:defRPr>
            </a:pPr>
            <a:r>
              <a:t>Phát hiện chậm hạn khi đã tới kỳ tổng hợp.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8000" y="4076700"/>
            <a:ext cx="11176000" cy="12700"/>
          </a:xfrm>
          <a:prstGeom prst="rect">
            <a:avLst/>
          </a:prstGeom>
          <a:solidFill>
            <a:srgbClr val="D8E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8000" y="4292600"/>
            <a:ext cx="4051300" cy="3930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9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23C38"/>
                </a:solidFill>
                <a:latin typeface="Be Vietnam Pro"/>
              </a:defRPr>
            </a:pPr>
            <a:r>
              <a:t>Kinh phí tách khỏi đề tài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87900" y="4292600"/>
            <a:ext cx="6718300" cy="375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9706A"/>
                </a:solidFill>
                <a:latin typeface="Be Vietnam Pro"/>
              </a:defRPr>
            </a:pPr>
            <a:r>
              <a:t>Mất công đối chiếu hồ sơ và chứng từ.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8000" y="4876800"/>
            <a:ext cx="11176000" cy="12700"/>
          </a:xfrm>
          <a:prstGeom prst="rect">
            <a:avLst/>
          </a:prstGeom>
          <a:solidFill>
            <a:srgbClr val="D8E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8000" y="5092700"/>
            <a:ext cx="4051300" cy="3930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9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23C38"/>
                </a:solidFill>
                <a:latin typeface="Be Vietnam Pro"/>
              </a:defRPr>
            </a:pPr>
            <a:r>
              <a:t>Kết quả chưa liên thông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87900" y="5092700"/>
            <a:ext cx="6718300" cy="375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9706A"/>
                </a:solidFill>
                <a:latin typeface="Be Vietnam Pro"/>
              </a:defRPr>
            </a:pPr>
            <a:r>
              <a:t>Khó nối đề tài với bài báo, sản phẩm và tác giả.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8000" y="5676900"/>
            <a:ext cx="11176000" cy="12700"/>
          </a:xfrm>
          <a:prstGeom prst="rect">
            <a:avLst/>
          </a:prstGeom>
          <a:solidFill>
            <a:srgbClr val="D8E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8000" y="444500"/>
            <a:ext cx="317500" cy="50800"/>
          </a:xfrm>
          <a:prstGeom prst="rect">
            <a:avLst/>
          </a:prstGeom>
          <a:solidFill>
            <a:srgbClr val="137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5200" y="342900"/>
            <a:ext cx="10083800" cy="2730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37C66"/>
                </a:solidFill>
                <a:latin typeface="Be Vietnam Pro"/>
              </a:defRPr>
            </a:pPr>
            <a:r>
              <a:t>03 / MÔ HÌNH GIẢI PHÁP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876300"/>
            <a:ext cx="11226800" cy="5509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538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23C38"/>
                </a:solidFill>
                <a:latin typeface="Be Vietnam Pro"/>
              </a:defRPr>
            </a:pPr>
            <a:r>
              <a:t>Từ tiếp nhận đến kết quả, trên một luồng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1943100"/>
            <a:ext cx="10972800" cy="3244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55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9706A"/>
                </a:solidFill>
                <a:latin typeface="Be Vietnam Pro"/>
              </a:defRPr>
            </a:pPr>
            <a:r>
              <a:t>Mỗi bước có hồ sơ, trách nhiệm xử lý và lịch sử thay đổi.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8000" y="6350000"/>
            <a:ext cx="11176000" cy="12700"/>
          </a:xfrm>
          <a:prstGeom prst="rect">
            <a:avLst/>
          </a:prstGeom>
          <a:solidFill>
            <a:srgbClr val="D8E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8000" y="6489700"/>
            <a:ext cx="9956800" cy="238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59706A"/>
                </a:solidFill>
                <a:latin typeface="Be Vietnam Pro"/>
              </a:defRPr>
            </a:pPr>
            <a:r>
              <a:t>RMS / BẢN CHÀO GIẢI PHÁP • 09.2026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03000" y="6451600"/>
            <a:ext cx="431800" cy="2901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37C66"/>
                </a:solidFill>
                <a:latin typeface="Be Vietnam Pro"/>
              </a:defRPr>
            </a:pPr>
            <a:r>
              <a:t>04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8000" y="2870200"/>
            <a:ext cx="1714500" cy="1943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3100" y="3048000"/>
            <a:ext cx="1384300" cy="513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24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37C66"/>
                </a:solidFill>
                <a:latin typeface="Be Vietnam Pro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3100" y="3594100"/>
            <a:ext cx="1460500" cy="3416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23C38"/>
                </a:solidFill>
                <a:latin typeface="Be Vietnam Pro"/>
              </a:defRPr>
            </a:pPr>
            <a:r>
              <a:t>Tiếp nhận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3100" y="4038600"/>
            <a:ext cx="1447800" cy="4787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9706A"/>
                </a:solidFill>
                <a:latin typeface="Be Vietnam Pro"/>
              </a:defRPr>
            </a:pPr>
            <a:r>
              <a:t>Đợt / kỳ nhận</a:t>
            </a:r>
          </a:p>
          <a:p>
            <a:pPr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9706A"/>
                </a:solidFill>
                <a:latin typeface="Be Vietnam Pro"/>
              </a:defRPr>
            </a:pPr>
            <a:r>
              <a:t>đề xuất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00300" y="2870200"/>
            <a:ext cx="1714500" cy="1943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65400" y="3048000"/>
            <a:ext cx="1384300" cy="513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24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37C66"/>
                </a:solidFill>
                <a:latin typeface="Be Vietnam Pro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5400" y="3594100"/>
            <a:ext cx="1460500" cy="3416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23C38"/>
                </a:solidFill>
                <a:latin typeface="Be Vietnam Pro"/>
              </a:defRPr>
            </a:pPr>
            <a:r>
              <a:t>Đề xuất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5400" y="4038600"/>
            <a:ext cx="1447800" cy="4787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9706A"/>
                </a:solidFill>
                <a:latin typeface="Be Vietnam Pro"/>
              </a:defRPr>
            </a:pPr>
            <a:r>
              <a:t>Hồ sơ và</a:t>
            </a:r>
          </a:p>
          <a:p>
            <a:pPr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9706A"/>
                </a:solidFill>
                <a:latin typeface="Be Vietnam Pro"/>
              </a:defRPr>
            </a:pPr>
            <a:r>
              <a:t>thuyết minh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2600" y="2870200"/>
            <a:ext cx="1714500" cy="1943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57700" y="3048000"/>
            <a:ext cx="1384300" cy="513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24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37C66"/>
                </a:solidFill>
                <a:latin typeface="Be Vietnam Pro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57700" y="3594100"/>
            <a:ext cx="1460500" cy="3416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23C38"/>
                </a:solidFill>
                <a:latin typeface="Be Vietnam Pro"/>
              </a:defRPr>
            </a:pPr>
            <a:r>
              <a:t>Xét duyệt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57700" y="4038600"/>
            <a:ext cx="1447800" cy="4787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9706A"/>
                </a:solidFill>
                <a:latin typeface="Be Vietnam Pro"/>
              </a:defRPr>
            </a:pPr>
            <a:r>
              <a:t>Hội đồng và</a:t>
            </a:r>
          </a:p>
          <a:p>
            <a:pPr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9706A"/>
                </a:solidFill>
                <a:latin typeface="Be Vietnam Pro"/>
              </a:defRPr>
            </a:pPr>
            <a:r>
              <a:t>kết quả đánh giá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84900" y="2870200"/>
            <a:ext cx="1714500" cy="1943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0000" y="3048000"/>
            <a:ext cx="1384300" cy="513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24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37C66"/>
                </a:solidFill>
                <a:latin typeface="Be Vietnam Pro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0000" y="3594100"/>
            <a:ext cx="1460500" cy="3416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23C38"/>
                </a:solidFill>
                <a:latin typeface="Be Vietnam Pro"/>
              </a:defRPr>
            </a:pPr>
            <a:r>
              <a:t>Thực hiện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0000" y="4038600"/>
            <a:ext cx="1447800" cy="4787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9706A"/>
                </a:solidFill>
                <a:latin typeface="Be Vietnam Pro"/>
              </a:defRPr>
            </a:pPr>
            <a:r>
              <a:t>Tiến độ và</a:t>
            </a:r>
          </a:p>
          <a:p>
            <a:pPr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9706A"/>
                </a:solidFill>
                <a:latin typeface="Be Vietnam Pro"/>
              </a:defRPr>
            </a:pPr>
            <a:r>
              <a:t>kinh phí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77200" y="2870200"/>
            <a:ext cx="1714500" cy="1943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42300" y="3048000"/>
            <a:ext cx="1384300" cy="513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24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37C66"/>
                </a:solidFill>
                <a:latin typeface="Be Vietnam Pro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42300" y="3594100"/>
            <a:ext cx="1460500" cy="3416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23C38"/>
                </a:solidFill>
                <a:latin typeface="Be Vietnam Pro"/>
              </a:defRPr>
            </a:pPr>
            <a:r>
              <a:t>Nghiệm thu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2300" y="4038600"/>
            <a:ext cx="1447800" cy="4787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9706A"/>
                </a:solidFill>
                <a:latin typeface="Be Vietnam Pro"/>
              </a:defRPr>
            </a:pPr>
            <a:r>
              <a:t>Đánh giá và</a:t>
            </a:r>
          </a:p>
          <a:p>
            <a:pPr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9706A"/>
                </a:solidFill>
                <a:latin typeface="Be Vietnam Pro"/>
              </a:defRPr>
            </a:pPr>
            <a:r>
              <a:t>kết luận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969500" y="2870200"/>
            <a:ext cx="1714500" cy="1943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34600" y="3048000"/>
            <a:ext cx="1384300" cy="513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24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37C66"/>
                </a:solidFill>
                <a:latin typeface="Be Vietnam Pro"/>
              </a:defRPr>
            </a:pPr>
            <a: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34600" y="3594100"/>
            <a:ext cx="1460500" cy="3416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23C38"/>
                </a:solidFill>
                <a:latin typeface="Be Vietnam Pro"/>
              </a:defRPr>
            </a:pPr>
            <a:r>
              <a:t>Sản phẩm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34600" y="4038600"/>
            <a:ext cx="1447800" cy="4787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9706A"/>
                </a:solidFill>
                <a:latin typeface="Be Vietnam Pro"/>
              </a:defRPr>
            </a:pPr>
            <a:r>
              <a:t>Công bố và</a:t>
            </a:r>
          </a:p>
          <a:p>
            <a:pPr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9706A"/>
                </a:solidFill>
                <a:latin typeface="Be Vietnam Pro"/>
              </a:defRPr>
            </a:pPr>
            <a:r>
              <a:t>lý lịch khoa học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8000" y="5168900"/>
            <a:ext cx="11176000" cy="647700"/>
          </a:xfrm>
          <a:prstGeom prst="rect">
            <a:avLst/>
          </a:prstGeom>
          <a:solidFill>
            <a:srgbClr val="123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6600" y="5359400"/>
            <a:ext cx="10782300" cy="358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Be Vietnam Pro"/>
              </a:defRPr>
            </a:pPr>
            <a:r>
              <a:t>Dùng chung: phân quyền • thông báo • nhật ký • danh mục • báo cáo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8000" y="444500"/>
            <a:ext cx="317500" cy="50800"/>
          </a:xfrm>
          <a:prstGeom prst="rect">
            <a:avLst/>
          </a:prstGeom>
          <a:solidFill>
            <a:srgbClr val="137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5200" y="342900"/>
            <a:ext cx="10083800" cy="2730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37C66"/>
                </a:solidFill>
                <a:latin typeface="Be Vietnam Pro"/>
              </a:defRPr>
            </a:pPr>
            <a:r>
              <a:t>04 / NĂNG LỰC GIẢI PHÁP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876300"/>
            <a:ext cx="11226800" cy="5509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538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23C38"/>
                </a:solidFill>
                <a:latin typeface="Be Vietnam Pro"/>
              </a:defRPr>
            </a:pPr>
            <a:r>
              <a:t>Ba nhóm năng lực tạo thành một hệ thống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1943100"/>
            <a:ext cx="10972800" cy="3244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55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9706A"/>
                </a:solidFill>
                <a:latin typeface="Be Vietnam Pro"/>
              </a:defRPr>
            </a:pPr>
            <a:r>
              <a:t>Kết nối nghiệp vụ, con người và dữ liệu nghiên cứu trên một nền tảng.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8000" y="6350000"/>
            <a:ext cx="11176000" cy="12700"/>
          </a:xfrm>
          <a:prstGeom prst="rect">
            <a:avLst/>
          </a:prstGeom>
          <a:solidFill>
            <a:srgbClr val="D8E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8000" y="6489700"/>
            <a:ext cx="9956800" cy="238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59706A"/>
                </a:solidFill>
                <a:latin typeface="Be Vietnam Pro"/>
              </a:defRPr>
            </a:pPr>
            <a:r>
              <a:t>RMS / BẢN CHÀO GIẢI PHÁP • 09.2026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03000" y="6451600"/>
            <a:ext cx="431800" cy="2901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37C66"/>
                </a:solidFill>
                <a:latin typeface="Be Vietnam Pro"/>
              </a:defRPr>
            </a:pPr>
            <a:r>
              <a:t>05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8000" y="2743200"/>
            <a:ext cx="3556000" cy="279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8000" y="2743200"/>
            <a:ext cx="38100" cy="444500"/>
          </a:xfrm>
          <a:prstGeom prst="rect">
            <a:avLst/>
          </a:prstGeom>
          <a:solidFill>
            <a:srgbClr val="137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6600" y="2959100"/>
            <a:ext cx="3149600" cy="2901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37C66"/>
                </a:solidFill>
                <a:latin typeface="Be Vietnam Pro"/>
              </a:defRPr>
            </a:pPr>
            <a: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600" y="3365500"/>
            <a:ext cx="3149600" cy="4102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23C38"/>
                </a:solidFill>
                <a:latin typeface="Be Vietnam Pro"/>
              </a:defRPr>
            </a:pPr>
            <a:r>
              <a:t>Tiếp nhận &amp; xét duyệt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600" y="4089400"/>
            <a:ext cx="3149600" cy="8216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9706A"/>
                </a:solidFill>
                <a:latin typeface="Be Vietnam Pro"/>
              </a:defRPr>
            </a:pPr>
            <a:r>
              <a:t>Kỳ nhận đề xuất; hồ sơ, thuyết</a:t>
            </a:r>
          </a:p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9706A"/>
                </a:solidFill>
                <a:latin typeface="Be Vietnam Pro"/>
              </a:defRPr>
            </a:pPr>
            <a:r>
              <a:t>minh; phân công và đánh giá hội</a:t>
            </a:r>
          </a:p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9706A"/>
                </a:solidFill>
                <a:latin typeface="Be Vietnam Pro"/>
              </a:defRPr>
            </a:pPr>
            <a:r>
              <a:t>đồng.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18000" y="2743200"/>
            <a:ext cx="3556000" cy="279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18000" y="2743200"/>
            <a:ext cx="38100" cy="444500"/>
          </a:xfrm>
          <a:prstGeom prst="rect">
            <a:avLst/>
          </a:prstGeom>
          <a:solidFill>
            <a:srgbClr val="137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46600" y="2959100"/>
            <a:ext cx="3149600" cy="2901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37C66"/>
                </a:solidFill>
                <a:latin typeface="Be Vietnam Pro"/>
              </a:defRPr>
            </a:pPr>
            <a: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46600" y="3365500"/>
            <a:ext cx="3149600" cy="4102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23C38"/>
                </a:solidFill>
                <a:latin typeface="Be Vietnam Pro"/>
              </a:defRPr>
            </a:pPr>
            <a:r>
              <a:t>Thực hiện &amp; nghiệm thu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46600" y="4089400"/>
            <a:ext cx="3149600" cy="5816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9706A"/>
                </a:solidFill>
                <a:latin typeface="Be Vietnam Pro"/>
              </a:defRPr>
            </a:pPr>
            <a:r>
              <a:t>Báo cáo tiến độ; theo dõi kinh phí;</a:t>
            </a:r>
          </a:p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9706A"/>
                </a:solidFill>
                <a:latin typeface="Be Vietnam Pro"/>
              </a:defRPr>
            </a:pPr>
            <a:r>
              <a:t>hồ sơ và kết quả nghiệm thu.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28000" y="2743200"/>
            <a:ext cx="3556000" cy="279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28000" y="2743200"/>
            <a:ext cx="38100" cy="444500"/>
          </a:xfrm>
          <a:prstGeom prst="rect">
            <a:avLst/>
          </a:prstGeom>
          <a:solidFill>
            <a:srgbClr val="137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56600" y="2959100"/>
            <a:ext cx="3149600" cy="2901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37C66"/>
                </a:solidFill>
                <a:latin typeface="Be Vietnam Pro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56600" y="3365500"/>
            <a:ext cx="3149600" cy="4102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23C38"/>
                </a:solidFill>
                <a:latin typeface="Be Vietnam Pro"/>
              </a:defRPr>
            </a:pPr>
            <a:r>
              <a:t>Kết quả &amp; điều hành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56600" y="4089400"/>
            <a:ext cx="3149600" cy="8216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9706A"/>
                </a:solidFill>
                <a:latin typeface="Be Vietnam Pro"/>
              </a:defRPr>
            </a:pPr>
            <a:r>
              <a:t>Sản phẩm khoa học; lý lịch khoa</a:t>
            </a:r>
          </a:p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9706A"/>
                </a:solidFill>
                <a:latin typeface="Be Vietnam Pro"/>
              </a:defRPr>
            </a:pPr>
            <a:r>
              <a:t>học; báo cáo và khung nhìn theo</a:t>
            </a:r>
          </a:p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9706A"/>
                </a:solidFill>
                <a:latin typeface="Be Vietnam Pro"/>
              </a:defRPr>
            </a:pPr>
            <a:r>
              <a:t>vai trò.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8000" y="5829300"/>
            <a:ext cx="11226800" cy="3416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37C66"/>
                </a:solidFill>
                <a:latin typeface="Be Vietnam Pro"/>
              </a:defRPr>
            </a:pPr>
            <a:r>
              <a:t>Nền tảng chung: danh mục, người dùng, quy trình, thông báo và truy vết.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8000" y="444500"/>
            <a:ext cx="317500" cy="50800"/>
          </a:xfrm>
          <a:prstGeom prst="rect">
            <a:avLst/>
          </a:prstGeom>
          <a:solidFill>
            <a:srgbClr val="137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5200" y="342900"/>
            <a:ext cx="10083800" cy="2730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37C66"/>
                </a:solidFill>
                <a:latin typeface="Be Vietnam Pro"/>
              </a:defRPr>
            </a:pPr>
            <a:r>
              <a:t>05 / SỞ, BAN, NGÀNH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876300"/>
            <a:ext cx="11226800" cy="5509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538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23C38"/>
                </a:solidFill>
                <a:latin typeface="Be Vietnam Pro"/>
              </a:defRPr>
            </a:pPr>
            <a:r>
              <a:t>Quản lý danh mục nhiệm vụ theo trách nhiệm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1943100"/>
            <a:ext cx="10972800" cy="3244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55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9706A"/>
                </a:solidFill>
                <a:latin typeface="Be Vietnam Pro"/>
              </a:defRPr>
            </a:pPr>
            <a:r>
              <a:t>Kịch bản áp dụng đề xuất cho cơ quan quản lý và các đơn vị trực thuộc.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8000" y="6350000"/>
            <a:ext cx="11176000" cy="12700"/>
          </a:xfrm>
          <a:prstGeom prst="rect">
            <a:avLst/>
          </a:prstGeom>
          <a:solidFill>
            <a:srgbClr val="D8E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8000" y="6489700"/>
            <a:ext cx="9956800" cy="238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59706A"/>
                </a:solidFill>
                <a:latin typeface="Be Vietnam Pro"/>
              </a:defRPr>
            </a:pPr>
            <a:r>
              <a:t>RMS / BẢN CHÀO GIẢI PHÁP • 09.2026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03000" y="6451600"/>
            <a:ext cx="431800" cy="2901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37C66"/>
                </a:solidFill>
                <a:latin typeface="Be Vietnam Pro"/>
              </a:defRPr>
            </a:pPr>
            <a:r>
              <a:t>06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8000" y="2743200"/>
            <a:ext cx="3556000" cy="279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8000" y="2743200"/>
            <a:ext cx="38100" cy="444500"/>
          </a:xfrm>
          <a:prstGeom prst="rect">
            <a:avLst/>
          </a:prstGeom>
          <a:solidFill>
            <a:srgbClr val="137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6600" y="2959100"/>
            <a:ext cx="3149600" cy="2901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37C66"/>
                </a:solidFill>
                <a:latin typeface="Be Vietnam Pro"/>
              </a:defRPr>
            </a:pPr>
            <a: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600" y="3365500"/>
            <a:ext cx="3149600" cy="4102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23C38"/>
                </a:solidFill>
                <a:latin typeface="Be Vietnam Pro"/>
              </a:defRPr>
            </a:pPr>
            <a:r>
              <a:t>Nhu cầu ưu tiên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600" y="4089400"/>
            <a:ext cx="3149600" cy="5816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9706A"/>
                </a:solidFill>
                <a:latin typeface="Be Vietnam Pro"/>
              </a:defRPr>
            </a:pPr>
            <a:r>
              <a:t>Tổng hợp danh mục theo lĩnh vực,</a:t>
            </a:r>
          </a:p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9706A"/>
                </a:solidFill>
                <a:latin typeface="Be Vietnam Pro"/>
              </a:defRPr>
            </a:pPr>
            <a:r>
              <a:t>đơn vị chủ trì và kỳ báo cáo.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18000" y="2743200"/>
            <a:ext cx="3556000" cy="279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18000" y="2743200"/>
            <a:ext cx="38100" cy="444500"/>
          </a:xfrm>
          <a:prstGeom prst="rect">
            <a:avLst/>
          </a:prstGeom>
          <a:solidFill>
            <a:srgbClr val="137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46600" y="2959100"/>
            <a:ext cx="3149600" cy="2901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37C66"/>
                </a:solidFill>
                <a:latin typeface="Be Vietnam Pro"/>
              </a:defRPr>
            </a:pPr>
            <a: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46600" y="3365500"/>
            <a:ext cx="3149600" cy="4102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23C38"/>
                </a:solidFill>
                <a:latin typeface="Be Vietnam Pro"/>
              </a:defRPr>
            </a:pPr>
            <a:r>
              <a:t>Cách tiếp cận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46600" y="4089400"/>
            <a:ext cx="3149600" cy="8216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9706A"/>
                </a:solidFill>
                <a:latin typeface="Be Vietnam Pro"/>
              </a:defRPr>
            </a:pPr>
            <a:r>
              <a:t>Chuẩn hóa hồ sơ; theo dõi mốc xử</a:t>
            </a:r>
          </a:p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9706A"/>
                </a:solidFill>
                <a:latin typeface="Be Vietnam Pro"/>
              </a:defRPr>
            </a:pPr>
            <a:r>
              <a:t>lý, đánh giá và kết quả từng nhiệm</a:t>
            </a:r>
          </a:p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9706A"/>
                </a:solidFill>
                <a:latin typeface="Be Vietnam Pro"/>
              </a:defRPr>
            </a:pPr>
            <a:r>
              <a:t>vụ.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28000" y="2743200"/>
            <a:ext cx="3556000" cy="279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28000" y="2743200"/>
            <a:ext cx="38100" cy="444500"/>
          </a:xfrm>
          <a:prstGeom prst="rect">
            <a:avLst/>
          </a:prstGeom>
          <a:solidFill>
            <a:srgbClr val="137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56600" y="2959100"/>
            <a:ext cx="3149600" cy="2901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37C66"/>
                </a:solidFill>
                <a:latin typeface="Be Vietnam Pro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56600" y="3365500"/>
            <a:ext cx="3149600" cy="4102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23C38"/>
                </a:solidFill>
                <a:latin typeface="Be Vietnam Pro"/>
              </a:defRPr>
            </a:pPr>
            <a:r>
              <a:t>Giá trị quản trị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56600" y="4089400"/>
            <a:ext cx="3149600" cy="5816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9706A"/>
                </a:solidFill>
                <a:latin typeface="Be Vietnam Pro"/>
              </a:defRPr>
            </a:pPr>
            <a:r>
              <a:t>Có căn cứ đôn đốc, kiểm tra tiến</a:t>
            </a:r>
          </a:p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9706A"/>
                </a:solidFill>
                <a:latin typeface="Be Vietnam Pro"/>
              </a:defRPr>
            </a:pPr>
            <a:r>
              <a:t>độ và tổng hợp phục vụ điều hành.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8000" y="5803900"/>
            <a:ext cx="11226800" cy="3244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55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37C66"/>
                </a:solidFill>
                <a:latin typeface="Be Vietnam Pro"/>
              </a:defRPr>
            </a:pPr>
            <a:r>
              <a:t>Thông tin xuyên suốt giúp nâng cao hiệu quả phối hợp giữa cơ quan quản lý và đơn vị chủ trì.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8000" y="444500"/>
            <a:ext cx="317500" cy="50800"/>
          </a:xfrm>
          <a:prstGeom prst="rect">
            <a:avLst/>
          </a:prstGeom>
          <a:solidFill>
            <a:srgbClr val="137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5200" y="342900"/>
            <a:ext cx="10083800" cy="2730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37C66"/>
                </a:solidFill>
                <a:latin typeface="Be Vietnam Pro"/>
              </a:defRPr>
            </a:pPr>
            <a:r>
              <a:t>06 / TRƯỜNG ĐẠI HỌC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876300"/>
            <a:ext cx="11226800" cy="5509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538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23C38"/>
                </a:solidFill>
                <a:latin typeface="Be Vietnam Pro"/>
              </a:defRPr>
            </a:pPr>
            <a:r>
              <a:t>Kết nối đề tài với thành quả học thuật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1943100"/>
            <a:ext cx="10972800" cy="3244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55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9706A"/>
                </a:solidFill>
                <a:latin typeface="Be Vietnam Pro"/>
              </a:defRPr>
            </a:pPr>
            <a:r>
              <a:t>Phục vụ phòng khoa học công nghệ, khoa/viện, giảng viên và hội đồng.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8000" y="6350000"/>
            <a:ext cx="11176000" cy="12700"/>
          </a:xfrm>
          <a:prstGeom prst="rect">
            <a:avLst/>
          </a:prstGeom>
          <a:solidFill>
            <a:srgbClr val="D8E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8000" y="6489700"/>
            <a:ext cx="9956800" cy="238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59706A"/>
                </a:solidFill>
                <a:latin typeface="Be Vietnam Pro"/>
              </a:defRPr>
            </a:pPr>
            <a:r>
              <a:t>RMS / BẢN CHÀO GIẢI PHÁP • 09.2026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03000" y="6451600"/>
            <a:ext cx="431800" cy="2901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37C66"/>
                </a:solidFill>
                <a:latin typeface="Be Vietnam Pro"/>
              </a:defRPr>
            </a:pPr>
            <a:r>
              <a:t>07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8000" y="2743200"/>
            <a:ext cx="3556000" cy="279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8000" y="2743200"/>
            <a:ext cx="38100" cy="444500"/>
          </a:xfrm>
          <a:prstGeom prst="rect">
            <a:avLst/>
          </a:prstGeom>
          <a:solidFill>
            <a:srgbClr val="137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6600" y="2959100"/>
            <a:ext cx="3149600" cy="2901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37C66"/>
                </a:solidFill>
                <a:latin typeface="Be Vietnam Pro"/>
              </a:defRPr>
            </a:pPr>
            <a: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600" y="3365500"/>
            <a:ext cx="3149600" cy="4102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23C38"/>
                </a:solidFill>
                <a:latin typeface="Be Vietnam Pro"/>
              </a:defRPr>
            </a:pPr>
            <a:r>
              <a:t>Nhu cầu ưu tiên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600" y="4089400"/>
            <a:ext cx="3149600" cy="5816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9706A"/>
                </a:solidFill>
                <a:latin typeface="Be Vietnam Pro"/>
              </a:defRPr>
            </a:pPr>
            <a:r>
              <a:t>Theo dõi đề tài; tổng hợp công bố</a:t>
            </a:r>
          </a:p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9706A"/>
                </a:solidFill>
                <a:latin typeface="Be Vietnam Pro"/>
              </a:defRPr>
            </a:pPr>
            <a:r>
              <a:t>và minh chứng của nhà khoa học.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18000" y="2743200"/>
            <a:ext cx="3556000" cy="279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18000" y="2743200"/>
            <a:ext cx="38100" cy="444500"/>
          </a:xfrm>
          <a:prstGeom prst="rect">
            <a:avLst/>
          </a:prstGeom>
          <a:solidFill>
            <a:srgbClr val="137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46600" y="2959100"/>
            <a:ext cx="3149600" cy="2901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37C66"/>
                </a:solidFill>
                <a:latin typeface="Be Vietnam Pro"/>
              </a:defRPr>
            </a:pPr>
            <a: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46600" y="3365500"/>
            <a:ext cx="3149600" cy="4102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23C38"/>
                </a:solidFill>
                <a:latin typeface="Be Vietnam Pro"/>
              </a:defRPr>
            </a:pPr>
            <a:r>
              <a:t>Cách tiếp cận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46600" y="4089400"/>
            <a:ext cx="3149600" cy="8216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9706A"/>
                </a:solidFill>
                <a:latin typeface="Be Vietnam Pro"/>
              </a:defRPr>
            </a:pPr>
            <a:r>
              <a:t>Liên kết hồ sơ đề tài, sản phẩm và</a:t>
            </a:r>
          </a:p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9706A"/>
                </a:solidFill>
                <a:latin typeface="Be Vietnam Pro"/>
              </a:defRPr>
            </a:pPr>
            <a:r>
              <a:t>lý lịch khoa học theo cùng định</a:t>
            </a:r>
          </a:p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9706A"/>
                </a:solidFill>
                <a:latin typeface="Be Vietnam Pro"/>
              </a:defRPr>
            </a:pPr>
            <a:r>
              <a:t>danh.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28000" y="2743200"/>
            <a:ext cx="3556000" cy="279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28000" y="2743200"/>
            <a:ext cx="38100" cy="444500"/>
          </a:xfrm>
          <a:prstGeom prst="rect">
            <a:avLst/>
          </a:prstGeom>
          <a:solidFill>
            <a:srgbClr val="137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56600" y="2959100"/>
            <a:ext cx="3149600" cy="2901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37C66"/>
                </a:solidFill>
                <a:latin typeface="Be Vietnam Pro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56600" y="3365500"/>
            <a:ext cx="3149600" cy="4102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23C38"/>
                </a:solidFill>
                <a:latin typeface="Be Vietnam Pro"/>
              </a:defRPr>
            </a:pPr>
            <a:r>
              <a:t>Giá trị học thuật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56600" y="4089400"/>
            <a:ext cx="3149600" cy="8216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9706A"/>
                </a:solidFill>
                <a:latin typeface="Be Vietnam Pro"/>
              </a:defRPr>
            </a:pPr>
            <a:r>
              <a:t>Tập hợp thành quả nghiên cứu theo</a:t>
            </a:r>
          </a:p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9706A"/>
                </a:solidFill>
                <a:latin typeface="Be Vietnam Pro"/>
              </a:defRPr>
            </a:pPr>
            <a:r>
              <a:t>nhà khoa học, khoa/viện và lĩnh</a:t>
            </a:r>
          </a:p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9706A"/>
                </a:solidFill>
                <a:latin typeface="Be Vietnam Pro"/>
              </a:defRPr>
            </a:pPr>
            <a:r>
              <a:t>vực.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8000" y="5803900"/>
            <a:ext cx="11226800" cy="3244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55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37C66"/>
                </a:solidFill>
                <a:latin typeface="Be Vietnam Pro"/>
              </a:defRPr>
            </a:pPr>
            <a:r>
              <a:t>Hồ sơ khoa học có tính kế thừa, phục vụ tổng hợp thành tích và đánh giá hoạt động nghiên cứu.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8000" y="444500"/>
            <a:ext cx="317500" cy="50800"/>
          </a:xfrm>
          <a:prstGeom prst="rect">
            <a:avLst/>
          </a:prstGeom>
          <a:solidFill>
            <a:srgbClr val="137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5200" y="342900"/>
            <a:ext cx="10083800" cy="2730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37C66"/>
                </a:solidFill>
                <a:latin typeface="Be Vietnam Pro"/>
              </a:defRPr>
            </a:pPr>
            <a:r>
              <a:t>07 / BỆNH VIỆN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876300"/>
            <a:ext cx="11226800" cy="5509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538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23C38"/>
                </a:solidFill>
                <a:latin typeface="Be Vietnam Pro"/>
              </a:defRPr>
            </a:pPr>
            <a:r>
              <a:t>Quản lý đề tài gắn với khoa, phòng và chủ nhiệm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1943100"/>
            <a:ext cx="10972800" cy="3244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55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9706A"/>
                </a:solidFill>
                <a:latin typeface="Be Vietnam Pro"/>
              </a:defRPr>
            </a:pPr>
            <a:r>
              <a:t>Tập trung vào hồ sơ quản trị nghiên cứu và minh chứng kết quả.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8000" y="6350000"/>
            <a:ext cx="11176000" cy="12700"/>
          </a:xfrm>
          <a:prstGeom prst="rect">
            <a:avLst/>
          </a:prstGeom>
          <a:solidFill>
            <a:srgbClr val="D8E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8000" y="6489700"/>
            <a:ext cx="9956800" cy="238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59706A"/>
                </a:solidFill>
                <a:latin typeface="Be Vietnam Pro"/>
              </a:defRPr>
            </a:pPr>
            <a:r>
              <a:t>RMS / BẢN CHÀO GIẢI PHÁP • 09.2026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03000" y="6451600"/>
            <a:ext cx="431800" cy="2901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37C66"/>
                </a:solidFill>
                <a:latin typeface="Be Vietnam Pro"/>
              </a:defRPr>
            </a:pPr>
            <a:r>
              <a:t>08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8000" y="2743200"/>
            <a:ext cx="3556000" cy="279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8000" y="2743200"/>
            <a:ext cx="38100" cy="444500"/>
          </a:xfrm>
          <a:prstGeom prst="rect">
            <a:avLst/>
          </a:prstGeom>
          <a:solidFill>
            <a:srgbClr val="137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6600" y="2959100"/>
            <a:ext cx="3149600" cy="2901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37C66"/>
                </a:solidFill>
                <a:latin typeface="Be Vietnam Pro"/>
              </a:defRPr>
            </a:pPr>
            <a: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600" y="3365500"/>
            <a:ext cx="3149600" cy="4102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23C38"/>
                </a:solidFill>
                <a:latin typeface="Be Vietnam Pro"/>
              </a:defRPr>
            </a:pPr>
            <a:r>
              <a:t>Nhu cầu ưu tiên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600" y="4089400"/>
            <a:ext cx="3149600" cy="8216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9706A"/>
                </a:solidFill>
                <a:latin typeface="Be Vietnam Pro"/>
              </a:defRPr>
            </a:pPr>
            <a:r>
              <a:t>Kiểm soát danh mục đề tài, mốc</a:t>
            </a:r>
          </a:p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9706A"/>
                </a:solidFill>
                <a:latin typeface="Be Vietnam Pro"/>
              </a:defRPr>
            </a:pPr>
            <a:r>
              <a:t>báo cáo và trách nhiệm từng</a:t>
            </a:r>
          </a:p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9706A"/>
                </a:solidFill>
                <a:latin typeface="Be Vietnam Pro"/>
              </a:defRPr>
            </a:pPr>
            <a:r>
              <a:t>khoa/phòng.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18000" y="2743200"/>
            <a:ext cx="3556000" cy="279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18000" y="2743200"/>
            <a:ext cx="38100" cy="444500"/>
          </a:xfrm>
          <a:prstGeom prst="rect">
            <a:avLst/>
          </a:prstGeom>
          <a:solidFill>
            <a:srgbClr val="137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46600" y="2959100"/>
            <a:ext cx="3149600" cy="2901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37C66"/>
                </a:solidFill>
                <a:latin typeface="Be Vietnam Pro"/>
              </a:defRPr>
            </a:pPr>
            <a: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46600" y="3365500"/>
            <a:ext cx="3149600" cy="4102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23C38"/>
                </a:solidFill>
                <a:latin typeface="Be Vietnam Pro"/>
              </a:defRPr>
            </a:pPr>
            <a:r>
              <a:t>Cách tiếp cận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46600" y="4089400"/>
            <a:ext cx="3149600" cy="8216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9706A"/>
                </a:solidFill>
                <a:latin typeface="Be Vietnam Pro"/>
              </a:defRPr>
            </a:pPr>
            <a:r>
              <a:t>Tập trung hồ sơ nghiên cứu, xét</a:t>
            </a:r>
          </a:p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9706A"/>
                </a:solidFill>
                <a:latin typeface="Be Vietnam Pro"/>
              </a:defRPr>
            </a:pPr>
            <a:r>
              <a:t>duyệt, tiến độ, nghiệm thu và công</a:t>
            </a:r>
          </a:p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9706A"/>
                </a:solidFill>
                <a:latin typeface="Be Vietnam Pro"/>
              </a:defRPr>
            </a:pPr>
            <a:r>
              <a:t>bố.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28000" y="2743200"/>
            <a:ext cx="3556000" cy="279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28000" y="2743200"/>
            <a:ext cx="38100" cy="444500"/>
          </a:xfrm>
          <a:prstGeom prst="rect">
            <a:avLst/>
          </a:prstGeom>
          <a:solidFill>
            <a:srgbClr val="137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56600" y="2959100"/>
            <a:ext cx="3149600" cy="2901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37C66"/>
                </a:solidFill>
                <a:latin typeface="Be Vietnam Pro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56600" y="3365500"/>
            <a:ext cx="3149600" cy="4102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23C38"/>
                </a:solidFill>
                <a:latin typeface="Be Vietnam Pro"/>
              </a:defRPr>
            </a:pPr>
            <a:r>
              <a:t>Giá trị quản trị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56600" y="4089400"/>
            <a:ext cx="3149600" cy="5816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9706A"/>
                </a:solidFill>
                <a:latin typeface="Be Vietnam Pro"/>
              </a:defRPr>
            </a:pPr>
            <a:r>
              <a:t>Giúp bộ phận quản lý đôn đốc và</a:t>
            </a:r>
          </a:p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9706A"/>
                </a:solidFill>
                <a:latin typeface="Be Vietnam Pro"/>
              </a:defRPr>
            </a:pPr>
            <a:r>
              <a:t>tổng hợp kết quả có căn cứ.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8000" y="5803900"/>
            <a:ext cx="11226800" cy="3244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55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37C66"/>
                </a:solidFill>
                <a:latin typeface="Be Vietnam Pro"/>
              </a:defRPr>
            </a:pPr>
            <a:r>
              <a:t>Kết nối bộ phận quản lý khoa học, các khoa/phòng và chủ nhiệm trong cùng luồng thông tin.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8000" y="444500"/>
            <a:ext cx="317500" cy="50800"/>
          </a:xfrm>
          <a:prstGeom prst="rect">
            <a:avLst/>
          </a:prstGeom>
          <a:solidFill>
            <a:srgbClr val="137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5200" y="342900"/>
            <a:ext cx="10083800" cy="2730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37C66"/>
                </a:solidFill>
                <a:latin typeface="Be Vietnam Pro"/>
              </a:defRPr>
            </a:pPr>
            <a:r>
              <a:t>08 / TRẢI NGHIỆM THEO VAI TRÒ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876300"/>
            <a:ext cx="11226800" cy="5509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538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23C38"/>
                </a:solidFill>
                <a:latin typeface="Be Vietnam Pro"/>
              </a:defRPr>
            </a:pPr>
            <a:r>
              <a:t>Cùng một nền tảng, rõ việc của từng người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1943100"/>
            <a:ext cx="10972800" cy="3244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55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9706A"/>
                </a:solidFill>
                <a:latin typeface="Be Vietnam Pro"/>
              </a:defRPr>
            </a:pPr>
            <a:r>
              <a:t>Phân quyền theo vai trò và phạm vi dữ liệu được giao.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8000" y="6350000"/>
            <a:ext cx="11176000" cy="12700"/>
          </a:xfrm>
          <a:prstGeom prst="rect">
            <a:avLst/>
          </a:prstGeom>
          <a:solidFill>
            <a:srgbClr val="D8E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8000" y="6489700"/>
            <a:ext cx="9956800" cy="238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59706A"/>
                </a:solidFill>
                <a:latin typeface="Be Vietnam Pro"/>
              </a:defRPr>
            </a:pPr>
            <a:r>
              <a:t>RMS / BẢN CHÀO GIẢI PHÁP • 09.2026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03000" y="6451600"/>
            <a:ext cx="431800" cy="2901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37C66"/>
                </a:solidFill>
                <a:latin typeface="Be Vietnam Pro"/>
              </a:defRPr>
            </a:pPr>
            <a:r>
              <a:t>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8000" y="2743200"/>
            <a:ext cx="3479800" cy="4102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23C38"/>
                </a:solidFill>
                <a:latin typeface="Be Vietnam Pro"/>
              </a:defRPr>
            </a:pPr>
            <a:r>
              <a:t>Nhà nghiên cứu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27500" y="2743200"/>
            <a:ext cx="7543800" cy="358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9706A"/>
                </a:solidFill>
                <a:latin typeface="Be Vietnam Pro"/>
              </a:defRPr>
            </a:pPr>
            <a:r>
              <a:t>Nộp hồ sơ • cập nhật báo cáo • kê khai sản phẩm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8000" y="3289300"/>
            <a:ext cx="11176000" cy="12700"/>
          </a:xfrm>
          <a:prstGeom prst="rect">
            <a:avLst/>
          </a:prstGeom>
          <a:solidFill>
            <a:srgbClr val="D8E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8000" y="3530600"/>
            <a:ext cx="3479800" cy="4102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23C38"/>
                </a:solidFill>
                <a:latin typeface="Be Vietnam Pro"/>
              </a:defRPr>
            </a:pPr>
            <a:r>
              <a:t>Chuyên viên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27500" y="3530600"/>
            <a:ext cx="7543800" cy="358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9706A"/>
                </a:solidFill>
                <a:latin typeface="Be Vietnam Pro"/>
              </a:defRPr>
            </a:pPr>
            <a:r>
              <a:t>Rà soát hồ sơ • tổ chức xử lý • theo dõi mốc hạn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8000" y="4076700"/>
            <a:ext cx="11176000" cy="12700"/>
          </a:xfrm>
          <a:prstGeom prst="rect">
            <a:avLst/>
          </a:prstGeom>
          <a:solidFill>
            <a:srgbClr val="D8E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8000" y="4318000"/>
            <a:ext cx="3479800" cy="4102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23C38"/>
                </a:solidFill>
                <a:latin typeface="Be Vietnam Pro"/>
              </a:defRPr>
            </a:pPr>
            <a:r>
              <a:t>Hội đồng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27500" y="4318000"/>
            <a:ext cx="7543800" cy="358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9706A"/>
                </a:solidFill>
                <a:latin typeface="Be Vietnam Pro"/>
              </a:defRPr>
            </a:pPr>
            <a:r>
              <a:t>Xem hồ sơ được phân công • đánh giá • ghi nhận kết quả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8000" y="4864100"/>
            <a:ext cx="11176000" cy="12700"/>
          </a:xfrm>
          <a:prstGeom prst="rect">
            <a:avLst/>
          </a:prstGeom>
          <a:solidFill>
            <a:srgbClr val="D8E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8000" y="5105400"/>
            <a:ext cx="3479800" cy="4102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23C38"/>
                </a:solidFill>
                <a:latin typeface="Be Vietnam Pro"/>
              </a:defRPr>
            </a:pPr>
            <a:r>
              <a:t>Lãnh đạo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27500" y="5105400"/>
            <a:ext cx="7543800" cy="358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9706A"/>
                </a:solidFill>
                <a:latin typeface="Be Vietnam Pro"/>
              </a:defRPr>
            </a:pPr>
            <a:r>
              <a:t>Xem tổng hợp • nhận diện điểm cần xử lý • chỉ đạo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8000" y="5651500"/>
            <a:ext cx="11176000" cy="12700"/>
          </a:xfrm>
          <a:prstGeom prst="rect">
            <a:avLst/>
          </a:prstGeom>
          <a:solidFill>
            <a:srgbClr val="D8E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8000" y="444500"/>
            <a:ext cx="317500" cy="50800"/>
          </a:xfrm>
          <a:prstGeom prst="rect">
            <a:avLst/>
          </a:prstGeom>
          <a:solidFill>
            <a:srgbClr val="137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5200" y="342900"/>
            <a:ext cx="10083800" cy="2730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37C66"/>
                </a:solidFill>
                <a:latin typeface="Be Vietnam Pro"/>
              </a:defRPr>
            </a:pPr>
            <a:r>
              <a:t>TRẢI NGHIỆM / DESKTOP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876300"/>
            <a:ext cx="11226800" cy="5509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538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23C38"/>
                </a:solidFill>
                <a:latin typeface="Be Vietnam Pro"/>
              </a:defRPr>
            </a:pPr>
            <a:r>
              <a:t>Bao quát công việc trong một màn hình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1943100"/>
            <a:ext cx="10972800" cy="3244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55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9706A"/>
                </a:solidFill>
                <a:latin typeface="Be Vietnam Pro"/>
              </a:defRPr>
            </a:pPr>
            <a:r>
              <a:t>Trang chủ theo vai trò: số liệu nhanh, việc cần làm và thông báo tập trung.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8000" y="6350000"/>
            <a:ext cx="11176000" cy="12700"/>
          </a:xfrm>
          <a:prstGeom prst="rect">
            <a:avLst/>
          </a:prstGeom>
          <a:solidFill>
            <a:srgbClr val="D8E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8000" y="6489700"/>
            <a:ext cx="9956800" cy="238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59706A"/>
                </a:solidFill>
                <a:latin typeface="Be Vietnam Pro"/>
              </a:defRPr>
            </a:pPr>
            <a:r>
              <a:t>RMS / BẢN CHÀO GIẢI PHÁP • 09.2026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03000" y="6451600"/>
            <a:ext cx="431800" cy="2901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37C66"/>
                </a:solidFill>
                <a:latin typeface="Be Vietnam Pro"/>
              </a:defRPr>
            </a:pPr>
            <a:r>
              <a:t>10</a:t>
            </a:r>
          </a:p>
        </p:txBody>
      </p:sp>
      <p:pic>
        <p:nvPicPr>
          <p:cNvPr id="10" name="Picture 9" descr="RMS-Desktop-Tong-qu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2501900"/>
            <a:ext cx="8255000" cy="3632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105900" y="2755900"/>
            <a:ext cx="2628900" cy="4273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6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23C38"/>
                </a:solidFill>
                <a:latin typeface="Be Vietnam Pro"/>
              </a:defRPr>
            </a:pPr>
            <a:r>
              <a:t>Nắm bắt nhanh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05900" y="3238500"/>
            <a:ext cx="2565400" cy="8216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9706A"/>
                </a:solidFill>
                <a:latin typeface="Be Vietnam Pro"/>
              </a:defRPr>
            </a:pPr>
            <a:r>
              <a:t>Theo dõi hồ sơ và các mốc</a:t>
            </a:r>
          </a:p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9706A"/>
                </a:solidFill>
                <a:latin typeface="Be Vietnam Pro"/>
              </a:defRPr>
            </a:pPr>
            <a:r>
              <a:t>cần xử lý trong phạm vi phụ</a:t>
            </a:r>
          </a:p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9706A"/>
                </a:solidFill>
                <a:latin typeface="Be Vietnam Pro"/>
              </a:defRPr>
            </a:pPr>
            <a:r>
              <a:t>trách.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05900" y="4343400"/>
            <a:ext cx="2628900" cy="4273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6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23C38"/>
                </a:solidFill>
                <a:latin typeface="Be Vietnam Pro"/>
              </a:defRPr>
            </a:pPr>
            <a:r>
              <a:t>Đi đúng việc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05900" y="4826000"/>
            <a:ext cx="2565400" cy="5816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9706A"/>
                </a:solidFill>
                <a:latin typeface="Be Vietnam Pro"/>
              </a:defRPr>
            </a:pPr>
            <a:r>
              <a:t>Truy cập hồ sơ nguồn từ</a:t>
            </a:r>
          </a:p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9706A"/>
                </a:solidFill>
                <a:latin typeface="Be Vietnam Pro"/>
              </a:defRPr>
            </a:pPr>
            <a:r>
              <a:t>danh sách công việc.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05900" y="5905500"/>
            <a:ext cx="2628900" cy="2559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9706A"/>
                </a:solidFill>
                <a:latin typeface="Be Vietnam Pro"/>
              </a:defRPr>
            </a:pPr>
            <a:r>
              <a:t>Minh họa giao diện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8000" y="444500"/>
            <a:ext cx="317500" cy="50800"/>
          </a:xfrm>
          <a:prstGeom prst="rect">
            <a:avLst/>
          </a:prstGeom>
          <a:solidFill>
            <a:srgbClr val="137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5200" y="342900"/>
            <a:ext cx="10083800" cy="2730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37C66"/>
                </a:solidFill>
                <a:latin typeface="Be Vietnam Pro"/>
              </a:defRPr>
            </a:pPr>
            <a:r>
              <a:t>TRẢI NGHIỆM / DESKTOP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876300"/>
            <a:ext cx="11226800" cy="5509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538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23C38"/>
                </a:solidFill>
                <a:latin typeface="Be Vietnam Pro"/>
              </a:defRPr>
            </a:pPr>
            <a:r>
              <a:t>Hồ sơ đề tài được tổ chức xuyên suốt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1943100"/>
            <a:ext cx="10972800" cy="3244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55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9706A"/>
                </a:solidFill>
                <a:latin typeface="Be Vietnam Pro"/>
              </a:defRPr>
            </a:pPr>
            <a:r>
              <a:t>Thông tin chung, tiến độ, kinh phí và sản phẩm gắn với cùng một đề tài.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8000" y="6350000"/>
            <a:ext cx="11176000" cy="12700"/>
          </a:xfrm>
          <a:prstGeom prst="rect">
            <a:avLst/>
          </a:prstGeom>
          <a:solidFill>
            <a:srgbClr val="D8E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8000" y="6489700"/>
            <a:ext cx="9956800" cy="238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59706A"/>
                </a:solidFill>
                <a:latin typeface="Be Vietnam Pro"/>
              </a:defRPr>
            </a:pPr>
            <a:r>
              <a:t>RMS / BẢN CHÀO GIẢI PHÁP • 09.2026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03000" y="6451600"/>
            <a:ext cx="431800" cy="2901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37C66"/>
                </a:solidFill>
                <a:latin typeface="Be Vietnam Pro"/>
              </a:defRPr>
            </a:pPr>
            <a:r>
              <a:t>11</a:t>
            </a:r>
          </a:p>
        </p:txBody>
      </p:sp>
      <p:pic>
        <p:nvPicPr>
          <p:cNvPr id="10" name="Picture 9" descr="RMS-Desktop-Ho-s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2501900"/>
            <a:ext cx="8255000" cy="3632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105900" y="2755900"/>
            <a:ext cx="2628900" cy="4273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6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23C38"/>
                </a:solidFill>
                <a:latin typeface="Be Vietnam Pro"/>
              </a:defRPr>
            </a:pPr>
            <a:r>
              <a:t>Một hồ sơ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05900" y="3238500"/>
            <a:ext cx="2565400" cy="5816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9706A"/>
                </a:solidFill>
                <a:latin typeface="Be Vietnam Pro"/>
              </a:defRPr>
            </a:pPr>
            <a:r>
              <a:t>Tra cứu chủ nhiệm, đơn vị,</a:t>
            </a:r>
          </a:p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9706A"/>
                </a:solidFill>
                <a:latin typeface="Be Vietnam Pro"/>
              </a:defRPr>
            </a:pPr>
            <a:r>
              <a:t>thời gian và trạng thái xử lý.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05900" y="4343400"/>
            <a:ext cx="2628900" cy="4273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6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23C38"/>
                </a:solidFill>
                <a:latin typeface="Be Vietnam Pro"/>
              </a:defRPr>
            </a:pPr>
            <a:r>
              <a:t>Một dòng tiến độ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05900" y="4826000"/>
            <a:ext cx="2565400" cy="5816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9706A"/>
                </a:solidFill>
                <a:latin typeface="Be Vietnam Pro"/>
              </a:defRPr>
            </a:pPr>
            <a:r>
              <a:t>Nắm các mốc báo cáo và</a:t>
            </a:r>
          </a:p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9706A"/>
                </a:solidFill>
                <a:latin typeface="Be Vietnam Pro"/>
              </a:defRPr>
            </a:pPr>
            <a:r>
              <a:t>truy cập tệp minh chứng.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05900" y="5905500"/>
            <a:ext cx="2628900" cy="2559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9706A"/>
                </a:solidFill>
                <a:latin typeface="Be Vietnam Pro"/>
              </a:defRPr>
            </a:pPr>
            <a:r>
              <a:t>Minh họa giao diện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8000" y="444500"/>
            <a:ext cx="317500" cy="50800"/>
          </a:xfrm>
          <a:prstGeom prst="rect">
            <a:avLst/>
          </a:prstGeom>
          <a:solidFill>
            <a:srgbClr val="137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5200" y="342900"/>
            <a:ext cx="10083800" cy="2730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37C66"/>
                </a:solidFill>
                <a:latin typeface="Be Vietnam Pro"/>
              </a:defRPr>
            </a:pPr>
            <a:r>
              <a:t>TRẢI NGHIỆM / MOBILE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876300"/>
            <a:ext cx="11226800" cy="5509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538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23C38"/>
                </a:solidFill>
                <a:latin typeface="Be Vietnam Pro"/>
              </a:defRPr>
            </a:pPr>
            <a:r>
              <a:t>Theo dõi công việc ngay trên điện thoại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1943100"/>
            <a:ext cx="10972800" cy="3244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55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9706A"/>
                </a:solidFill>
                <a:latin typeface="Be Vietnam Pro"/>
              </a:defRPr>
            </a:pPr>
            <a:r>
              <a:t>Giao diện web trên di động giúp tiếp cận thông tin thuận tiện khi di chuyển.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8000" y="6350000"/>
            <a:ext cx="11176000" cy="12700"/>
          </a:xfrm>
          <a:prstGeom prst="rect">
            <a:avLst/>
          </a:prstGeom>
          <a:solidFill>
            <a:srgbClr val="D8E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8000" y="6489700"/>
            <a:ext cx="9956800" cy="238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59706A"/>
                </a:solidFill>
                <a:latin typeface="Be Vietnam Pro"/>
              </a:defRPr>
            </a:pPr>
            <a:r>
              <a:t>RMS / BẢN CHÀO GIẢI PHÁP • 09.2026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03000" y="6451600"/>
            <a:ext cx="431800" cy="2901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37C66"/>
                </a:solidFill>
                <a:latin typeface="Be Vietnam Pro"/>
              </a:defRPr>
            </a:pPr>
            <a:r>
              <a:t>12</a:t>
            </a:r>
          </a:p>
        </p:txBody>
      </p:sp>
      <p:pic>
        <p:nvPicPr>
          <p:cNvPr id="10" name="Picture 9" descr="RMS-Mob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2425700"/>
            <a:ext cx="6731000" cy="3835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8000" y="2781300"/>
            <a:ext cx="4191000" cy="4616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835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23C38"/>
                </a:solidFill>
                <a:latin typeface="Be Vietnam Pro"/>
              </a:defRPr>
            </a:pPr>
            <a:r>
              <a:t>Thông tin trong tầm tay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8000" y="3403600"/>
            <a:ext cx="4051300" cy="9759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9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9706A"/>
                </a:solidFill>
                <a:latin typeface="Be Vietnam Pro"/>
              </a:defRPr>
            </a:pPr>
            <a:r>
              <a:t>Xem công việc đến hạn, nhận thông</a:t>
            </a:r>
          </a:p>
          <a:p>
            <a:pPr>
              <a:lnSpc>
                <a:spcPts val="229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9706A"/>
                </a:solidFill>
                <a:latin typeface="Be Vietnam Pro"/>
              </a:defRPr>
            </a:pPr>
            <a:r>
              <a:t>báo và tra cứu hồ sơ đề tài trong giao</a:t>
            </a:r>
          </a:p>
          <a:p>
            <a:pPr>
              <a:lnSpc>
                <a:spcPts val="229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9706A"/>
                </a:solidFill>
                <a:latin typeface="Be Vietnam Pro"/>
              </a:defRPr>
            </a:pPr>
            <a:r>
              <a:t>diện gọn gàng.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8000" y="4851400"/>
            <a:ext cx="4241800" cy="3930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9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37C66"/>
                </a:solidFill>
                <a:latin typeface="Be Vietnam Pro"/>
              </a:defRPr>
            </a:pPr>
            <a:r>
              <a:t>Cùng dữ liệu. Cùng phân quyền.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8000" y="5854700"/>
            <a:ext cx="4241800" cy="2730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9706A"/>
                </a:solidFill>
                <a:latin typeface="Be Vietnam Pro"/>
              </a:defRPr>
            </a:pPr>
            <a:r>
              <a:t>Minh họa giao diện web trên di động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8000" y="444500"/>
            <a:ext cx="317500" cy="50800"/>
          </a:xfrm>
          <a:prstGeom prst="rect">
            <a:avLst/>
          </a:prstGeom>
          <a:solidFill>
            <a:srgbClr val="137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5200" y="342900"/>
            <a:ext cx="10083800" cy="2730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37C66"/>
                </a:solidFill>
                <a:latin typeface="Be Vietnam Pro"/>
              </a:defRPr>
            </a:pPr>
            <a:r>
              <a:t>09 / ĐIỀU HÀNH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876300"/>
            <a:ext cx="11226800" cy="5509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538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23C38"/>
                </a:solidFill>
                <a:latin typeface="Be Vietnam Pro"/>
              </a:defRPr>
            </a:pPr>
            <a:r>
              <a:t>Từ câu hỏi của lãnh đạo đến dữ liệu cần có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1943100"/>
            <a:ext cx="10972800" cy="3244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55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9706A"/>
                </a:solidFill>
                <a:latin typeface="Be Vietnam Pro"/>
              </a:defRPr>
            </a:pPr>
            <a:r>
              <a:t>Tổng hợp thông tin quản trị theo danh mục, tiến độ và kết quả nghiên cứu.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8000" y="6350000"/>
            <a:ext cx="11176000" cy="12700"/>
          </a:xfrm>
          <a:prstGeom prst="rect">
            <a:avLst/>
          </a:prstGeom>
          <a:solidFill>
            <a:srgbClr val="D8E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8000" y="6489700"/>
            <a:ext cx="9956800" cy="238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59706A"/>
                </a:solidFill>
                <a:latin typeface="Be Vietnam Pro"/>
              </a:defRPr>
            </a:pPr>
            <a:r>
              <a:t>RMS / BẢN CHÀO GIẢI PHÁP • 09.2026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03000" y="6451600"/>
            <a:ext cx="431800" cy="2901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37C66"/>
                </a:solidFill>
                <a:latin typeface="Be Vietnam Pro"/>
              </a:defRPr>
            </a:pPr>
            <a:r>
              <a:t>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8000" y="2743200"/>
            <a:ext cx="3556000" cy="279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8000" y="2743200"/>
            <a:ext cx="38100" cy="444500"/>
          </a:xfrm>
          <a:prstGeom prst="rect">
            <a:avLst/>
          </a:prstGeom>
          <a:solidFill>
            <a:srgbClr val="137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6600" y="2959100"/>
            <a:ext cx="3149600" cy="2901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37C66"/>
                </a:solidFill>
                <a:latin typeface="Be Vietnam Pro"/>
              </a:defRPr>
            </a:pPr>
            <a: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600" y="3365500"/>
            <a:ext cx="3149600" cy="4102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23C38"/>
                </a:solidFill>
                <a:latin typeface="Be Vietnam Pro"/>
              </a:defRPr>
            </a:pPr>
            <a:r>
              <a:t>Đang ở đâu?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600" y="4089400"/>
            <a:ext cx="3149600" cy="5816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9706A"/>
                </a:solidFill>
                <a:latin typeface="Be Vietnam Pro"/>
              </a:defRPr>
            </a:pPr>
            <a:r>
              <a:t>Danh mục theo trạng thái, đơn vị,</a:t>
            </a:r>
          </a:p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9706A"/>
                </a:solidFill>
                <a:latin typeface="Be Vietnam Pro"/>
              </a:defRPr>
            </a:pPr>
            <a:r>
              <a:t>lĩnh vực và kỳ quản lý.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18000" y="2743200"/>
            <a:ext cx="3556000" cy="279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18000" y="2743200"/>
            <a:ext cx="38100" cy="444500"/>
          </a:xfrm>
          <a:prstGeom prst="rect">
            <a:avLst/>
          </a:prstGeom>
          <a:solidFill>
            <a:srgbClr val="137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46600" y="2959100"/>
            <a:ext cx="3149600" cy="2901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37C66"/>
                </a:solidFill>
                <a:latin typeface="Be Vietnam Pro"/>
              </a:defRPr>
            </a:pPr>
            <a: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46600" y="3365500"/>
            <a:ext cx="3149600" cy="4102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23C38"/>
                </a:solidFill>
                <a:latin typeface="Be Vietnam Pro"/>
              </a:defRPr>
            </a:pPr>
            <a:r>
              <a:t>Cần xử lý gì?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46600" y="4089400"/>
            <a:ext cx="3149600" cy="5816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9706A"/>
                </a:solidFill>
                <a:latin typeface="Be Vietnam Pro"/>
              </a:defRPr>
            </a:pPr>
            <a:r>
              <a:t>Mốc báo cáo đến hạn; hồ sơ chờ xử</a:t>
            </a:r>
          </a:p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9706A"/>
                </a:solidFill>
                <a:latin typeface="Be Vietnam Pro"/>
              </a:defRPr>
            </a:pPr>
            <a:r>
              <a:t>lý; chênh lệch cần đối soát.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28000" y="2743200"/>
            <a:ext cx="3556000" cy="279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28000" y="2743200"/>
            <a:ext cx="38100" cy="444500"/>
          </a:xfrm>
          <a:prstGeom prst="rect">
            <a:avLst/>
          </a:prstGeom>
          <a:solidFill>
            <a:srgbClr val="137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56600" y="2959100"/>
            <a:ext cx="3149600" cy="2901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37C66"/>
                </a:solidFill>
                <a:latin typeface="Be Vietnam Pro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56600" y="3365500"/>
            <a:ext cx="3149600" cy="4102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23C38"/>
                </a:solidFill>
                <a:latin typeface="Be Vietnam Pro"/>
              </a:defRPr>
            </a:pPr>
            <a:r>
              <a:t>Đạt kết quả gì?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56600" y="4089400"/>
            <a:ext cx="3149600" cy="5816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9706A"/>
                </a:solidFill>
                <a:latin typeface="Be Vietnam Pro"/>
              </a:defRPr>
            </a:pPr>
            <a:r>
              <a:t>Đề tài nghiệm thu, sản phẩm ghi</a:t>
            </a:r>
          </a:p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9706A"/>
                </a:solidFill>
                <a:latin typeface="Be Vietnam Pro"/>
              </a:defRPr>
            </a:pPr>
            <a:r>
              <a:t>nhận và kinh phí theo dõi.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8000" y="5803900"/>
            <a:ext cx="11226800" cy="3416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37C66"/>
                </a:solidFill>
                <a:latin typeface="Be Vietnam Pro"/>
              </a:defRPr>
            </a:pPr>
            <a:r>
              <a:t>Giá trị: giảm tổng hợp lại từ nhiều file, tăng khả năng truy về hồ sơ nguồn.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8000" y="444500"/>
            <a:ext cx="317500" cy="50800"/>
          </a:xfrm>
          <a:prstGeom prst="rect">
            <a:avLst/>
          </a:prstGeom>
          <a:solidFill>
            <a:srgbClr val="137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5200" y="342900"/>
            <a:ext cx="10083800" cy="2730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37C66"/>
                </a:solidFill>
                <a:latin typeface="Be Vietnam Pro"/>
              </a:defRPr>
            </a:pPr>
            <a:r>
              <a:t>10 / KINH PHÍ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876300"/>
            <a:ext cx="11226800" cy="5509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538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23C38"/>
                </a:solidFill>
                <a:latin typeface="Be Vietnam Pro"/>
              </a:defRPr>
            </a:pPr>
            <a:r>
              <a:t>Theo dõi kinh phí gắn với hồ sơ đề tài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1943100"/>
            <a:ext cx="10972800" cy="3244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55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9706A"/>
                </a:solidFill>
                <a:latin typeface="Be Vietnam Pro"/>
              </a:defRPr>
            </a:pPr>
            <a:r>
              <a:t>RMS hỗ trợ quản trị và đối soát; hệ thống kế toán giữ vai trò sổ cái.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8000" y="6350000"/>
            <a:ext cx="11176000" cy="12700"/>
          </a:xfrm>
          <a:prstGeom prst="rect">
            <a:avLst/>
          </a:prstGeom>
          <a:solidFill>
            <a:srgbClr val="D8E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8000" y="6489700"/>
            <a:ext cx="9956800" cy="238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59706A"/>
                </a:solidFill>
                <a:latin typeface="Be Vietnam Pro"/>
              </a:defRPr>
            </a:pPr>
            <a:r>
              <a:t>RMS / BẢN CHÀO GIẢI PHÁP • 09.2026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03000" y="6451600"/>
            <a:ext cx="431800" cy="2901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37C66"/>
                </a:solidFill>
                <a:latin typeface="Be Vietnam Pro"/>
              </a:defRPr>
            </a:pPr>
            <a:r>
              <a:t>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8000" y="2743200"/>
            <a:ext cx="3556000" cy="279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8000" y="2743200"/>
            <a:ext cx="38100" cy="444500"/>
          </a:xfrm>
          <a:prstGeom prst="rect">
            <a:avLst/>
          </a:prstGeom>
          <a:solidFill>
            <a:srgbClr val="137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6600" y="2959100"/>
            <a:ext cx="3149600" cy="2901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37C66"/>
                </a:solidFill>
                <a:latin typeface="Be Vietnam Pro"/>
              </a:defRPr>
            </a:pPr>
            <a: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600" y="3365500"/>
            <a:ext cx="3149600" cy="4102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23C38"/>
                </a:solidFill>
                <a:latin typeface="Be Vietnam Pro"/>
              </a:defRPr>
            </a:pPr>
            <a:r>
              <a:t>Ghi nhận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600" y="4089400"/>
            <a:ext cx="3149600" cy="5816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9706A"/>
                </a:solidFill>
                <a:latin typeface="Be Vietnam Pro"/>
              </a:defRPr>
            </a:pPr>
            <a:r>
              <a:t>Tập hợp thông tin kinh phí và giao</a:t>
            </a:r>
          </a:p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9706A"/>
                </a:solidFill>
                <a:latin typeface="Be Vietnam Pro"/>
              </a:defRPr>
            </a:pPr>
            <a:r>
              <a:t>dịch theo đề tài.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18000" y="2743200"/>
            <a:ext cx="3556000" cy="279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18000" y="2743200"/>
            <a:ext cx="38100" cy="444500"/>
          </a:xfrm>
          <a:prstGeom prst="rect">
            <a:avLst/>
          </a:prstGeom>
          <a:solidFill>
            <a:srgbClr val="137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46600" y="2959100"/>
            <a:ext cx="3149600" cy="2901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37C66"/>
                </a:solidFill>
                <a:latin typeface="Be Vietnam Pro"/>
              </a:defRPr>
            </a:pPr>
            <a: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46600" y="3365500"/>
            <a:ext cx="3149600" cy="4102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23C38"/>
                </a:solidFill>
                <a:latin typeface="Be Vietnam Pro"/>
              </a:defRPr>
            </a:pPr>
            <a:r>
              <a:t>Đối chiếu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46600" y="4089400"/>
            <a:ext cx="3149600" cy="8216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9706A"/>
                </a:solidFill>
                <a:latin typeface="Be Vietnam Pro"/>
              </a:defRPr>
            </a:pPr>
            <a:r>
              <a:t>Kết nối mã chứng từ qua API hoặc</a:t>
            </a:r>
          </a:p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9706A"/>
                </a:solidFill>
                <a:latin typeface="Be Vietnam Pro"/>
              </a:defRPr>
            </a:pPr>
            <a:r>
              <a:t>file định kỳ theo phương án thống</a:t>
            </a:r>
          </a:p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9706A"/>
                </a:solidFill>
                <a:latin typeface="Be Vietnam Pro"/>
              </a:defRPr>
            </a:pPr>
            <a:r>
              <a:t>nhất.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28000" y="2743200"/>
            <a:ext cx="3556000" cy="279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28000" y="2743200"/>
            <a:ext cx="38100" cy="444500"/>
          </a:xfrm>
          <a:prstGeom prst="rect">
            <a:avLst/>
          </a:prstGeom>
          <a:solidFill>
            <a:srgbClr val="137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56600" y="2959100"/>
            <a:ext cx="3149600" cy="2901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37C66"/>
                </a:solidFill>
                <a:latin typeface="Be Vietnam Pro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56600" y="3365500"/>
            <a:ext cx="3149600" cy="4102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23C38"/>
                </a:solidFill>
                <a:latin typeface="Be Vietnam Pro"/>
              </a:defRPr>
            </a:pPr>
            <a:r>
              <a:t>Xử lý chênh lệch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56600" y="4089400"/>
            <a:ext cx="3149600" cy="5816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9706A"/>
                </a:solidFill>
                <a:latin typeface="Be Vietnam Pro"/>
              </a:defRPr>
            </a:pPr>
            <a:r>
              <a:t>Nhận diện khoản khớp, chưa khớp</a:t>
            </a:r>
          </a:p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9706A"/>
                </a:solidFill>
                <a:latin typeface="Be Vietnam Pro"/>
              </a:defRPr>
            </a:pPr>
            <a:r>
              <a:t>và chưa đối soát để kiểm tra.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8000" y="5803900"/>
            <a:ext cx="11226800" cy="3416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37C66"/>
                </a:solidFill>
                <a:latin typeface="Be Vietnam Pro"/>
              </a:defRPr>
            </a:pPr>
            <a:r>
              <a:t>Điều kiện triển khai: thống nhất mã đề tài, mã chứng từ và đầu mối tài chính.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8000" y="444500"/>
            <a:ext cx="317500" cy="50800"/>
          </a:xfrm>
          <a:prstGeom prst="rect">
            <a:avLst/>
          </a:prstGeom>
          <a:solidFill>
            <a:srgbClr val="137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5200" y="342900"/>
            <a:ext cx="10083800" cy="2730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37C66"/>
                </a:solidFill>
                <a:latin typeface="Be Vietnam Pro"/>
              </a:defRPr>
            </a:pPr>
            <a:r>
              <a:t>11 / DỮ LIỆU &amp; KIỂM SOÁT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876300"/>
            <a:ext cx="11226800" cy="5509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538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23C38"/>
                </a:solidFill>
                <a:latin typeface="Be Vietnam Pro"/>
              </a:defRPr>
            </a:pPr>
            <a:r>
              <a:t>Truy cập đúng phạm vi. Thay đổi có dấu vết.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1943100"/>
            <a:ext cx="10972800" cy="3244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55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9706A"/>
                </a:solidFill>
                <a:latin typeface="Be Vietnam Pro"/>
              </a:defRPr>
            </a:pPr>
            <a:r>
              <a:t>Các nguyên tắc thiết kế nền tảng để xây dựng vận hành tin cậy.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8000" y="6350000"/>
            <a:ext cx="11176000" cy="12700"/>
          </a:xfrm>
          <a:prstGeom prst="rect">
            <a:avLst/>
          </a:prstGeom>
          <a:solidFill>
            <a:srgbClr val="D8E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8000" y="6489700"/>
            <a:ext cx="9956800" cy="238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59706A"/>
                </a:solidFill>
                <a:latin typeface="Be Vietnam Pro"/>
              </a:defRPr>
            </a:pPr>
            <a:r>
              <a:t>RMS / BẢN CHÀO GIẢI PHÁP • 09.2026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03000" y="6451600"/>
            <a:ext cx="431800" cy="2901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37C66"/>
                </a:solidFill>
                <a:latin typeface="Be Vietnam Pro"/>
              </a:defRPr>
            </a:pPr>
            <a:r>
              <a:t>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8000" y="2743200"/>
            <a:ext cx="3556000" cy="279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8000" y="2743200"/>
            <a:ext cx="38100" cy="444500"/>
          </a:xfrm>
          <a:prstGeom prst="rect">
            <a:avLst/>
          </a:prstGeom>
          <a:solidFill>
            <a:srgbClr val="137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6600" y="2959100"/>
            <a:ext cx="3149600" cy="2901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37C66"/>
                </a:solidFill>
                <a:latin typeface="Be Vietnam Pro"/>
              </a:defRPr>
            </a:pPr>
            <a: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600" y="3365500"/>
            <a:ext cx="3149600" cy="4102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23C38"/>
                </a:solidFill>
                <a:latin typeface="Be Vietnam Pro"/>
              </a:defRPr>
            </a:pPr>
            <a:r>
              <a:t>Phân quyền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600" y="4089400"/>
            <a:ext cx="3149600" cy="5816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9706A"/>
                </a:solidFill>
                <a:latin typeface="Be Vietnam Pro"/>
              </a:defRPr>
            </a:pPr>
            <a:r>
              <a:t>Kiểm soát quyền tại hệ thống theo</a:t>
            </a:r>
          </a:p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9706A"/>
                </a:solidFill>
                <a:latin typeface="Be Vietnam Pro"/>
              </a:defRPr>
            </a:pPr>
            <a:r>
              <a:t>vai trò và phạm vi dữ liệu.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18000" y="2743200"/>
            <a:ext cx="3556000" cy="279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18000" y="2743200"/>
            <a:ext cx="38100" cy="444500"/>
          </a:xfrm>
          <a:prstGeom prst="rect">
            <a:avLst/>
          </a:prstGeom>
          <a:solidFill>
            <a:srgbClr val="137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46600" y="2959100"/>
            <a:ext cx="3149600" cy="2901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37C66"/>
                </a:solidFill>
                <a:latin typeface="Be Vietnam Pro"/>
              </a:defRPr>
            </a:pPr>
            <a: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46600" y="3365500"/>
            <a:ext cx="3149600" cy="4102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23C38"/>
                </a:solidFill>
                <a:latin typeface="Be Vietnam Pro"/>
              </a:defRPr>
            </a:pPr>
            <a:r>
              <a:t>Truy vết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46600" y="4089400"/>
            <a:ext cx="3149600" cy="8216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9706A"/>
                </a:solidFill>
                <a:latin typeface="Be Vietnam Pro"/>
              </a:defRPr>
            </a:pPr>
            <a:r>
              <a:t>Ghi nhật ký các hành động thay</a:t>
            </a:r>
          </a:p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9706A"/>
                </a:solidFill>
                <a:latin typeface="Be Vietnam Pro"/>
              </a:defRPr>
            </a:pPr>
            <a:r>
              <a:t>đổi trạng thái nghiệp vụ để kiểm</a:t>
            </a:r>
          </a:p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9706A"/>
                </a:solidFill>
                <a:latin typeface="Be Vietnam Pro"/>
              </a:defRPr>
            </a:pPr>
            <a:r>
              <a:t>tra.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28000" y="2743200"/>
            <a:ext cx="3556000" cy="279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28000" y="2743200"/>
            <a:ext cx="38100" cy="444500"/>
          </a:xfrm>
          <a:prstGeom prst="rect">
            <a:avLst/>
          </a:prstGeom>
          <a:solidFill>
            <a:srgbClr val="137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56600" y="2959100"/>
            <a:ext cx="3149600" cy="2901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37C66"/>
                </a:solidFill>
                <a:latin typeface="Be Vietnam Pro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56600" y="3365500"/>
            <a:ext cx="3149600" cy="4102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23C38"/>
                </a:solidFill>
                <a:latin typeface="Be Vietnam Pro"/>
              </a:defRPr>
            </a:pPr>
            <a:r>
              <a:t>Quản lý hồ sơ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56600" y="4089400"/>
            <a:ext cx="3149600" cy="8216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9706A"/>
                </a:solidFill>
                <a:latin typeface="Be Vietnam Pro"/>
              </a:defRPr>
            </a:pPr>
            <a:r>
              <a:t>Tập trung tệp và minh chứng; kiểm</a:t>
            </a:r>
          </a:p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9706A"/>
                </a:solidFill>
                <a:latin typeface="Be Vietnam Pro"/>
              </a:defRPr>
            </a:pPr>
            <a:r>
              <a:t>quyền trước khi cấp quyền truy</a:t>
            </a:r>
          </a:p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9706A"/>
                </a:solidFill>
                <a:latin typeface="Be Vietnam Pro"/>
              </a:defRPr>
            </a:pPr>
            <a:r>
              <a:t>cập.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8000" y="5803900"/>
            <a:ext cx="11226800" cy="3244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55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37C66"/>
                </a:solidFill>
                <a:latin typeface="Be Vietnam Pro"/>
              </a:defRPr>
            </a:pPr>
            <a:r>
              <a:t>Dữ liệu được tổ chức theo trách nhiệm sử dụng và có lịch sử phục vụ kiểm tra, đối chiếu.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8000" y="444500"/>
            <a:ext cx="317500" cy="50800"/>
          </a:xfrm>
          <a:prstGeom prst="rect">
            <a:avLst/>
          </a:prstGeom>
          <a:solidFill>
            <a:srgbClr val="137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5200" y="342900"/>
            <a:ext cx="10083800" cy="2730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37C66"/>
                </a:solidFill>
                <a:latin typeface="Be Vietnam Pro"/>
              </a:defRPr>
            </a:pPr>
            <a:r>
              <a:t>12 / KẾT NỐI HỆ SINH THÁI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876300"/>
            <a:ext cx="11226800" cy="5509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538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23C38"/>
                </a:solidFill>
                <a:latin typeface="Be Vietnam Pro"/>
              </a:defRPr>
            </a:pPr>
            <a:r>
              <a:t>Kế thừa hệ thống đơn vị đang sử dụng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1943100"/>
            <a:ext cx="10972800" cy="3244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55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9706A"/>
                </a:solidFill>
                <a:latin typeface="Be Vietnam Pro"/>
              </a:defRPr>
            </a:pPr>
            <a:r>
              <a:t>Phương án tích hợp phụ thuộc hạ tầng, dữ liệu và đầu mối kỹ thuật hai bên.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8000" y="6350000"/>
            <a:ext cx="11176000" cy="12700"/>
          </a:xfrm>
          <a:prstGeom prst="rect">
            <a:avLst/>
          </a:prstGeom>
          <a:solidFill>
            <a:srgbClr val="D8E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8000" y="6489700"/>
            <a:ext cx="9956800" cy="238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59706A"/>
                </a:solidFill>
                <a:latin typeface="Be Vietnam Pro"/>
              </a:defRPr>
            </a:pPr>
            <a:r>
              <a:t>RMS / BẢN CHÀO GIẢI PHÁP • 09.2026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03000" y="6451600"/>
            <a:ext cx="431800" cy="2901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37C66"/>
                </a:solidFill>
                <a:latin typeface="Be Vietnam Pro"/>
              </a:defRPr>
            </a:pPr>
            <a:r>
              <a:t>16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8000" y="2743200"/>
            <a:ext cx="3556000" cy="279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8000" y="2743200"/>
            <a:ext cx="38100" cy="444500"/>
          </a:xfrm>
          <a:prstGeom prst="rect">
            <a:avLst/>
          </a:prstGeom>
          <a:solidFill>
            <a:srgbClr val="137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6600" y="2959100"/>
            <a:ext cx="3149600" cy="2901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37C66"/>
                </a:solidFill>
                <a:latin typeface="Be Vietnam Pro"/>
              </a:defRPr>
            </a:pPr>
            <a: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600" y="3365500"/>
            <a:ext cx="3149600" cy="4102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23C38"/>
                </a:solidFill>
                <a:latin typeface="Be Vietnam Pro"/>
              </a:defRPr>
            </a:pPr>
            <a:r>
              <a:t>Định danh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600" y="4089400"/>
            <a:ext cx="3149600" cy="5816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9706A"/>
                </a:solidFill>
                <a:latin typeface="Be Vietnam Pro"/>
              </a:defRPr>
            </a:pPr>
            <a:r>
              <a:t>Khảo sát đăng nhập tập trung và</a:t>
            </a:r>
          </a:p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9706A"/>
                </a:solidFill>
                <a:latin typeface="Be Vietnam Pro"/>
              </a:defRPr>
            </a:pPr>
            <a:r>
              <a:t>ánh xạ tài khoản, vai trò.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18000" y="2743200"/>
            <a:ext cx="3556000" cy="279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18000" y="2743200"/>
            <a:ext cx="38100" cy="444500"/>
          </a:xfrm>
          <a:prstGeom prst="rect">
            <a:avLst/>
          </a:prstGeom>
          <a:solidFill>
            <a:srgbClr val="137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46600" y="2959100"/>
            <a:ext cx="3149600" cy="2901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37C66"/>
                </a:solidFill>
                <a:latin typeface="Be Vietnam Pro"/>
              </a:defRPr>
            </a:pPr>
            <a: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46600" y="3365500"/>
            <a:ext cx="3149600" cy="4102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23C38"/>
                </a:solidFill>
                <a:latin typeface="Be Vietnam Pro"/>
              </a:defRPr>
            </a:pPr>
            <a:r>
              <a:t>Thông báo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46600" y="4089400"/>
            <a:ext cx="3149600" cy="5816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9706A"/>
                </a:solidFill>
                <a:latin typeface="Be Vietnam Pro"/>
              </a:defRPr>
            </a:pPr>
            <a:r>
              <a:t>Kết nối email/SMS theo kênh được</a:t>
            </a:r>
          </a:p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9706A"/>
                </a:solidFill>
                <a:latin typeface="Be Vietnam Pro"/>
              </a:defRPr>
            </a:pPr>
            <a:r>
              <a:t>chọn và dịch vụ sẵn có.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28000" y="2743200"/>
            <a:ext cx="3556000" cy="279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28000" y="2743200"/>
            <a:ext cx="38100" cy="444500"/>
          </a:xfrm>
          <a:prstGeom prst="rect">
            <a:avLst/>
          </a:prstGeom>
          <a:solidFill>
            <a:srgbClr val="137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56600" y="2959100"/>
            <a:ext cx="3149600" cy="2901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37C66"/>
                </a:solidFill>
                <a:latin typeface="Be Vietnam Pro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56600" y="3365500"/>
            <a:ext cx="3149600" cy="4102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23C38"/>
                </a:solidFill>
                <a:latin typeface="Be Vietnam Pro"/>
              </a:defRPr>
            </a:pPr>
            <a:r>
              <a:t>Tài chính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56600" y="4089400"/>
            <a:ext cx="3149600" cy="5816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9706A"/>
                </a:solidFill>
                <a:latin typeface="Be Vietnam Pro"/>
              </a:defRPr>
            </a:pPr>
            <a:r>
              <a:t>Đối soát qua API hoặc file theo khả</a:t>
            </a:r>
          </a:p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9706A"/>
                </a:solidFill>
                <a:latin typeface="Be Vietnam Pro"/>
              </a:defRPr>
            </a:pPr>
            <a:r>
              <a:t>năng hệ thống hiện tại.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8000" y="5803900"/>
            <a:ext cx="11226800" cy="3244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55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37C66"/>
                </a:solidFill>
                <a:latin typeface="Be Vietnam Pro"/>
              </a:defRPr>
            </a:pPr>
            <a:r>
              <a:t>Liên kết dữ liệu và kênh làm việc để giảm thao tác nhập lại, tăng hiệu quả phối hợp.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8000" y="444500"/>
            <a:ext cx="317500" cy="50800"/>
          </a:xfrm>
          <a:prstGeom prst="rect">
            <a:avLst/>
          </a:prstGeom>
          <a:solidFill>
            <a:srgbClr val="137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5200" y="342900"/>
            <a:ext cx="10083800" cy="2730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37C66"/>
                </a:solidFill>
                <a:latin typeface="Be Vietnam Pro"/>
              </a:defRPr>
            </a:pPr>
            <a:r>
              <a:t>13 / PHÙ HỢP TỪNG ĐƠN VỊ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876300"/>
            <a:ext cx="11226800" cy="5509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538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23C38"/>
                </a:solidFill>
                <a:latin typeface="Be Vietnam Pro"/>
              </a:defRPr>
            </a:pPr>
            <a:r>
              <a:t>Thống nhất nền tảng, phù hợp cách quản lý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1943100"/>
            <a:ext cx="10972800" cy="3244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55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9706A"/>
                </a:solidFill>
                <a:latin typeface="Be Vietnam Pro"/>
              </a:defRPr>
            </a:pPr>
            <a:r>
              <a:t>Tổ chức cấu hình theo danh mục, quy trình và trách nhiệm của từng đơn vị.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8000" y="6350000"/>
            <a:ext cx="11176000" cy="12700"/>
          </a:xfrm>
          <a:prstGeom prst="rect">
            <a:avLst/>
          </a:prstGeom>
          <a:solidFill>
            <a:srgbClr val="D8E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8000" y="6489700"/>
            <a:ext cx="9956800" cy="238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59706A"/>
                </a:solidFill>
                <a:latin typeface="Be Vietnam Pro"/>
              </a:defRPr>
            </a:pPr>
            <a:r>
              <a:t>RMS / BẢN CHÀO GIẢI PHÁP • 09.2026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03000" y="6451600"/>
            <a:ext cx="431800" cy="2901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37C66"/>
                </a:solidFill>
                <a:latin typeface="Be Vietnam Pro"/>
              </a:defRPr>
            </a:pPr>
            <a:r>
              <a:t>17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8000" y="2743200"/>
            <a:ext cx="3556000" cy="279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8000" y="2743200"/>
            <a:ext cx="38100" cy="444500"/>
          </a:xfrm>
          <a:prstGeom prst="rect">
            <a:avLst/>
          </a:prstGeom>
          <a:solidFill>
            <a:srgbClr val="137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6600" y="2959100"/>
            <a:ext cx="3149600" cy="2901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37C66"/>
                </a:solidFill>
                <a:latin typeface="Be Vietnam Pro"/>
              </a:defRPr>
            </a:pPr>
            <a: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600" y="3365500"/>
            <a:ext cx="3149600" cy="4102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23C38"/>
                </a:solidFill>
                <a:latin typeface="Be Vietnam Pro"/>
              </a:defRPr>
            </a:pPr>
            <a:r>
              <a:t>Danh mục &amp; biểu mẫu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600" y="4089400"/>
            <a:ext cx="3149600" cy="5816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9706A"/>
                </a:solidFill>
                <a:latin typeface="Be Vietnam Pro"/>
              </a:defRPr>
            </a:pPr>
            <a:r>
              <a:t>Thiết lập đơn vị, lĩnh vực, biểu mẫu</a:t>
            </a:r>
          </a:p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9706A"/>
                </a:solidFill>
                <a:latin typeface="Be Vietnam Pro"/>
              </a:defRPr>
            </a:pPr>
            <a:r>
              <a:t>và tiêu chí đánh giá.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18000" y="2743200"/>
            <a:ext cx="3556000" cy="279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18000" y="2743200"/>
            <a:ext cx="38100" cy="444500"/>
          </a:xfrm>
          <a:prstGeom prst="rect">
            <a:avLst/>
          </a:prstGeom>
          <a:solidFill>
            <a:srgbClr val="137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46600" y="2959100"/>
            <a:ext cx="3149600" cy="2901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37C66"/>
                </a:solidFill>
                <a:latin typeface="Be Vietnam Pro"/>
              </a:defRPr>
            </a:pPr>
            <a: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46600" y="3365500"/>
            <a:ext cx="3149600" cy="4102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23C38"/>
                </a:solidFill>
                <a:latin typeface="Be Vietnam Pro"/>
              </a:defRPr>
            </a:pPr>
            <a:r>
              <a:t>Luồng xử lý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46600" y="4089400"/>
            <a:ext cx="3149600" cy="5816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9706A"/>
                </a:solidFill>
                <a:latin typeface="Be Vietnam Pro"/>
              </a:defRPr>
            </a:pPr>
            <a:r>
              <a:t>Tổ chức các bước xử lý, vai trò phụ</a:t>
            </a:r>
          </a:p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9706A"/>
                </a:solidFill>
                <a:latin typeface="Be Vietnam Pro"/>
              </a:defRPr>
            </a:pPr>
            <a:r>
              <a:t>trách và điều kiện chuyển bước.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28000" y="2743200"/>
            <a:ext cx="3556000" cy="279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28000" y="2743200"/>
            <a:ext cx="38100" cy="444500"/>
          </a:xfrm>
          <a:prstGeom prst="rect">
            <a:avLst/>
          </a:prstGeom>
          <a:solidFill>
            <a:srgbClr val="137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56600" y="2959100"/>
            <a:ext cx="3149600" cy="2901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37C66"/>
                </a:solidFill>
                <a:latin typeface="Be Vietnam Pro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56600" y="3365500"/>
            <a:ext cx="3149600" cy="4102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23C38"/>
                </a:solidFill>
                <a:latin typeface="Be Vietnam Pro"/>
              </a:defRPr>
            </a:pPr>
            <a:r>
              <a:t>Vai trò &amp; phạm vi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56600" y="4089400"/>
            <a:ext cx="3149600" cy="8216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9706A"/>
                </a:solidFill>
                <a:latin typeface="Be Vietnam Pro"/>
              </a:defRPr>
            </a:pPr>
            <a:r>
              <a:t>Phân công người sử dụng và phạm</a:t>
            </a:r>
          </a:p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9706A"/>
                </a:solidFill>
                <a:latin typeface="Be Vietnam Pro"/>
              </a:defRPr>
            </a:pPr>
            <a:r>
              <a:t>vi dữ liệu theo trách nhiệm công</a:t>
            </a:r>
          </a:p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9706A"/>
                </a:solidFill>
                <a:latin typeface="Be Vietnam Pro"/>
              </a:defRPr>
            </a:pPr>
            <a:r>
              <a:t>tác.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8000" y="5803900"/>
            <a:ext cx="11226800" cy="3416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37C66"/>
                </a:solidFill>
                <a:latin typeface="Be Vietnam Pro"/>
              </a:defRPr>
            </a:pPr>
            <a:r>
              <a:t>Chuẩn hóa cách vận hành để phối hợp nhất quán giữa các bộ phận.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8000" y="444500"/>
            <a:ext cx="317500" cy="50800"/>
          </a:xfrm>
          <a:prstGeom prst="rect">
            <a:avLst/>
          </a:prstGeom>
          <a:solidFill>
            <a:srgbClr val="137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5200" y="342900"/>
            <a:ext cx="10083800" cy="2730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37C66"/>
                </a:solidFill>
                <a:latin typeface="Be Vietnam Pro"/>
              </a:defRPr>
            </a:pPr>
            <a:r>
              <a:t>14 / LỘ TRÌNH TRIỂN KHAI ĐỀ XUẤT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876300"/>
            <a:ext cx="11226800" cy="5509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538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23C38"/>
                </a:solidFill>
                <a:latin typeface="Be Vietnam Pro"/>
              </a:defRPr>
            </a:pPr>
            <a:r>
              <a:t>Bắt đầu có trọng tâm, mở rộng theo kết quả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1943100"/>
            <a:ext cx="10972800" cy="3244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55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9706A"/>
                </a:solidFill>
                <a:latin typeface="Be Vietnam Pro"/>
              </a:defRPr>
            </a:pPr>
            <a:r>
              <a:t>Tiến độ và nguồn lực được xác định sau khảo sát; mỗi giai đoạn có đầu ra để nghiệm thu.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8000" y="6350000"/>
            <a:ext cx="11176000" cy="12700"/>
          </a:xfrm>
          <a:prstGeom prst="rect">
            <a:avLst/>
          </a:prstGeom>
          <a:solidFill>
            <a:srgbClr val="D8E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8000" y="6489700"/>
            <a:ext cx="9956800" cy="238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59706A"/>
                </a:solidFill>
                <a:latin typeface="Be Vietnam Pro"/>
              </a:defRPr>
            </a:pPr>
            <a:r>
              <a:t>RMS / BẢN CHÀO GIẢI PHÁP • 09.2026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03000" y="6451600"/>
            <a:ext cx="431800" cy="2901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37C66"/>
                </a:solidFill>
                <a:latin typeface="Be Vietnam Pro"/>
              </a:defRPr>
            </a:pPr>
            <a:r>
              <a:t>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8000" y="2679700"/>
            <a:ext cx="876300" cy="513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24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37C66"/>
                </a:solidFill>
                <a:latin typeface="Be Vietnam Pro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47800" y="2679700"/>
            <a:ext cx="4114800" cy="3930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9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23C38"/>
                </a:solidFill>
                <a:latin typeface="Be Vietnam Pro"/>
              </a:defRPr>
            </a:pPr>
            <a:r>
              <a:t>Khảo sát &amp; chốt phạm vi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78500" y="2679700"/>
            <a:ext cx="5854700" cy="3416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9706A"/>
                </a:solidFill>
                <a:latin typeface="Be Vietnam Pro"/>
              </a:defRPr>
            </a:pPr>
            <a:r>
              <a:t>Quy trình, dữ liệu mẫu, ma trận quyền và chỉ số đánh giá.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447800" y="3276600"/>
            <a:ext cx="10236200" cy="12700"/>
          </a:xfrm>
          <a:prstGeom prst="rect">
            <a:avLst/>
          </a:prstGeom>
          <a:solidFill>
            <a:srgbClr val="D8E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8000" y="3505200"/>
            <a:ext cx="876300" cy="513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24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37C66"/>
                </a:solidFill>
                <a:latin typeface="Be Vietnam Pro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47800" y="3505200"/>
            <a:ext cx="4114800" cy="3930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9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23C38"/>
                </a:solidFill>
                <a:latin typeface="Be Vietnam Pro"/>
              </a:defRPr>
            </a:pPr>
            <a:r>
              <a:t>Cấu hình &amp; chuẩn bị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78500" y="3505200"/>
            <a:ext cx="5854700" cy="3416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9706A"/>
                </a:solidFill>
                <a:latin typeface="Be Vietnam Pro"/>
              </a:defRPr>
            </a:pPr>
            <a:r>
              <a:t>Thiết lập theo phạm vi; làm sạch dữ liệu; kiểm tra tích hợp.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47800" y="4102100"/>
            <a:ext cx="10236200" cy="12700"/>
          </a:xfrm>
          <a:prstGeom prst="rect">
            <a:avLst/>
          </a:prstGeom>
          <a:solidFill>
            <a:srgbClr val="D8E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8000" y="4330700"/>
            <a:ext cx="876300" cy="513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24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37C66"/>
                </a:solidFill>
                <a:latin typeface="Be Vietnam Pro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47800" y="4330700"/>
            <a:ext cx="4114800" cy="3930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9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23C38"/>
                </a:solidFill>
                <a:latin typeface="Be Vietnam Pro"/>
              </a:defRPr>
            </a:pPr>
            <a:r>
              <a:t>Thí điểm &amp; đào tạo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78500" y="4330700"/>
            <a:ext cx="5854700" cy="3416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9706A"/>
                </a:solidFill>
                <a:latin typeface="Be Vietnam Pro"/>
              </a:defRPr>
            </a:pPr>
            <a:r>
              <a:t>Chạy một nhóm đề tài; kiểm thử người dùng; đo kết quả.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447800" y="4927600"/>
            <a:ext cx="10236200" cy="12700"/>
          </a:xfrm>
          <a:prstGeom prst="rect">
            <a:avLst/>
          </a:prstGeom>
          <a:solidFill>
            <a:srgbClr val="D8E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8000" y="5156200"/>
            <a:ext cx="876300" cy="513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24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37C66"/>
                </a:solidFill>
                <a:latin typeface="Be Vietnam Pro"/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47800" y="5156200"/>
            <a:ext cx="4114800" cy="3930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9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23C38"/>
                </a:solidFill>
                <a:latin typeface="Be Vietnam Pro"/>
              </a:defRPr>
            </a:pPr>
            <a:r>
              <a:t>Triển khai &amp; vận hành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78500" y="5156200"/>
            <a:ext cx="5854700" cy="3416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9706A"/>
                </a:solidFill>
                <a:latin typeface="Be Vietnam Pro"/>
              </a:defRPr>
            </a:pPr>
            <a:r>
              <a:t>Mở rộng theo đợt; bàn giao; hỗ trợ và rà soát định kỳ.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447800" y="5753100"/>
            <a:ext cx="10236200" cy="12700"/>
          </a:xfrm>
          <a:prstGeom prst="rect">
            <a:avLst/>
          </a:prstGeom>
          <a:solidFill>
            <a:srgbClr val="D8E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8000" y="444500"/>
            <a:ext cx="317500" cy="50800"/>
          </a:xfrm>
          <a:prstGeom prst="rect">
            <a:avLst/>
          </a:prstGeom>
          <a:solidFill>
            <a:srgbClr val="137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5200" y="342900"/>
            <a:ext cx="10083800" cy="2730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37C66"/>
                </a:solidFill>
                <a:latin typeface="Be Vietnam Pro"/>
              </a:defRPr>
            </a:pPr>
            <a:r>
              <a:t>15 / THÍ ĐIỂM &amp; ĐO HIỆU QUẢ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876300"/>
            <a:ext cx="11226800" cy="5509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538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23C38"/>
                </a:solidFill>
                <a:latin typeface="Be Vietnam Pro"/>
              </a:defRPr>
            </a:pPr>
            <a:r>
              <a:t>Đánh giá bằng kết quả, không chỉ bằng tính năng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1943100"/>
            <a:ext cx="10972800" cy="3244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55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9706A"/>
                </a:solidFill>
                <a:latin typeface="Be Vietnam Pro"/>
              </a:defRPr>
            </a:pPr>
            <a:r>
              <a:t>Đề xuất chọn một đơn vị hoặc một nhóm đề tài có dữ liệu và người phụ trách rõ ràng.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8000" y="6350000"/>
            <a:ext cx="11176000" cy="12700"/>
          </a:xfrm>
          <a:prstGeom prst="rect">
            <a:avLst/>
          </a:prstGeom>
          <a:solidFill>
            <a:srgbClr val="D8E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8000" y="6489700"/>
            <a:ext cx="9956800" cy="238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59706A"/>
                </a:solidFill>
                <a:latin typeface="Be Vietnam Pro"/>
              </a:defRPr>
            </a:pPr>
            <a:r>
              <a:t>RMS / BẢN CHÀO GIẢI PHÁP • 09.2026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03000" y="6451600"/>
            <a:ext cx="431800" cy="2901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37C66"/>
                </a:solidFill>
                <a:latin typeface="Be Vietnam Pro"/>
              </a:defRPr>
            </a:pPr>
            <a:r>
              <a:t>19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8000" y="2743200"/>
            <a:ext cx="3556000" cy="279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8000" y="2743200"/>
            <a:ext cx="38100" cy="444500"/>
          </a:xfrm>
          <a:prstGeom prst="rect">
            <a:avLst/>
          </a:prstGeom>
          <a:solidFill>
            <a:srgbClr val="137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6600" y="2959100"/>
            <a:ext cx="3149600" cy="2901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37C66"/>
                </a:solidFill>
                <a:latin typeface="Be Vietnam Pro"/>
              </a:defRPr>
            </a:pPr>
            <a: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600" y="3365500"/>
            <a:ext cx="3149600" cy="4102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23C38"/>
                </a:solidFill>
                <a:latin typeface="Be Vietnam Pro"/>
              </a:defRPr>
            </a:pPr>
            <a:r>
              <a:t>Đo trước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600" y="4089400"/>
            <a:ext cx="3149600" cy="5816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9706A"/>
                </a:solidFill>
                <a:latin typeface="Be Vietnam Pro"/>
              </a:defRPr>
            </a:pPr>
            <a:r>
              <a:t>Thời gian xử lý hồ sơ; thời gian tổng</a:t>
            </a:r>
          </a:p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9706A"/>
                </a:solidFill>
                <a:latin typeface="Be Vietnam Pro"/>
              </a:defRPr>
            </a:pPr>
            <a:r>
              <a:t>hợp báo cáo; tỷ lệ đúng hạn.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18000" y="2743200"/>
            <a:ext cx="3556000" cy="279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18000" y="2743200"/>
            <a:ext cx="38100" cy="444500"/>
          </a:xfrm>
          <a:prstGeom prst="rect">
            <a:avLst/>
          </a:prstGeom>
          <a:solidFill>
            <a:srgbClr val="137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46600" y="2959100"/>
            <a:ext cx="3149600" cy="2901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37C66"/>
                </a:solidFill>
                <a:latin typeface="Be Vietnam Pro"/>
              </a:defRPr>
            </a:pPr>
            <a: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46600" y="3365500"/>
            <a:ext cx="3149600" cy="4102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23C38"/>
                </a:solidFill>
                <a:latin typeface="Be Vietnam Pro"/>
              </a:defRPr>
            </a:pPr>
            <a:r>
              <a:t>Đo trong thí điểm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46600" y="4089400"/>
            <a:ext cx="3149600" cy="5816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9706A"/>
                </a:solidFill>
                <a:latin typeface="Be Vietnam Pro"/>
              </a:defRPr>
            </a:pPr>
            <a:r>
              <a:t>Ghi nhận cùng cách tính, trên tập</a:t>
            </a:r>
          </a:p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9706A"/>
                </a:solidFill>
                <a:latin typeface="Be Vietnam Pro"/>
              </a:defRPr>
            </a:pPr>
            <a:r>
              <a:t>hồ sơ tương đồng và đủ đại diện.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28000" y="2743200"/>
            <a:ext cx="3556000" cy="279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28000" y="2743200"/>
            <a:ext cx="38100" cy="444500"/>
          </a:xfrm>
          <a:prstGeom prst="rect">
            <a:avLst/>
          </a:prstGeom>
          <a:solidFill>
            <a:srgbClr val="137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56600" y="2959100"/>
            <a:ext cx="3149600" cy="2901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37C66"/>
                </a:solidFill>
                <a:latin typeface="Be Vietnam Pro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56600" y="3365500"/>
            <a:ext cx="3149600" cy="4102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23C38"/>
                </a:solidFill>
                <a:latin typeface="Be Vietnam Pro"/>
              </a:defRPr>
            </a:pPr>
            <a:r>
              <a:t>Quyết định mở rộng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56600" y="4089400"/>
            <a:ext cx="3149600" cy="5816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9706A"/>
                </a:solidFill>
                <a:latin typeface="Be Vietnam Pro"/>
              </a:defRPr>
            </a:pPr>
            <a:r>
              <a:t>Đối chiếu mục tiêu đã chốt, phản</a:t>
            </a:r>
          </a:p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9706A"/>
                </a:solidFill>
                <a:latin typeface="Be Vietnam Pro"/>
              </a:defRPr>
            </a:pPr>
            <a:r>
              <a:t>hồi người dùng và lỗi còn tồn tại.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8000" y="5803900"/>
            <a:ext cx="11226800" cy="3416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37C66"/>
                </a:solidFill>
                <a:latin typeface="Be Vietnam Pro"/>
              </a:defRPr>
            </a:pPr>
            <a:r>
              <a:t>Đánh giá trên ba trục: tốc độ xử lý, chất lượng dữ liệu và mức độ sử dụng.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8000" y="444500"/>
            <a:ext cx="317500" cy="50800"/>
          </a:xfrm>
          <a:prstGeom prst="rect">
            <a:avLst/>
          </a:prstGeom>
          <a:solidFill>
            <a:srgbClr val="137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5200" y="342900"/>
            <a:ext cx="10083800" cy="2730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37C66"/>
                </a:solidFill>
                <a:latin typeface="Be Vietnam Pro"/>
              </a:defRPr>
            </a:pPr>
            <a:r>
              <a:t>16 / PHƯƠNG ÁN ĐẦU TƯ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876300"/>
            <a:ext cx="11226800" cy="5509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538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23C38"/>
                </a:solidFill>
                <a:latin typeface="Be Vietnam Pro"/>
              </a:defRPr>
            </a:pPr>
            <a:r>
              <a:t>Định giá theo phạm vi và điều kiện triển khai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1943100"/>
            <a:ext cx="10972800" cy="3244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55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9706A"/>
                </a:solidFill>
                <a:latin typeface="Be Vietnam Pro"/>
              </a:defRPr>
            </a:pPr>
            <a:r>
              <a:t>Lập dự toán sau khảo sát để người ra quyết định nhìn rõ tổng chi phí sở hữu.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8000" y="6350000"/>
            <a:ext cx="11176000" cy="12700"/>
          </a:xfrm>
          <a:prstGeom prst="rect">
            <a:avLst/>
          </a:prstGeom>
          <a:solidFill>
            <a:srgbClr val="D8E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8000" y="6489700"/>
            <a:ext cx="9956800" cy="238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59706A"/>
                </a:solidFill>
                <a:latin typeface="Be Vietnam Pro"/>
              </a:defRPr>
            </a:pPr>
            <a:r>
              <a:t>RMS / BẢN CHÀO GIẢI PHÁP • 09.2026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03000" y="6451600"/>
            <a:ext cx="431800" cy="2901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37C66"/>
                </a:solidFill>
                <a:latin typeface="Be Vietnam Pro"/>
              </a:defRPr>
            </a:pPr>
            <a:r>
              <a:t>20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8000" y="2743200"/>
            <a:ext cx="3556000" cy="279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8000" y="2743200"/>
            <a:ext cx="38100" cy="444500"/>
          </a:xfrm>
          <a:prstGeom prst="rect">
            <a:avLst/>
          </a:prstGeom>
          <a:solidFill>
            <a:srgbClr val="137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6600" y="2959100"/>
            <a:ext cx="3149600" cy="2901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37C66"/>
                </a:solidFill>
                <a:latin typeface="Be Vietnam Pro"/>
              </a:defRPr>
            </a:pPr>
            <a: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600" y="3365500"/>
            <a:ext cx="3149600" cy="4102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23C38"/>
                </a:solidFill>
                <a:latin typeface="Be Vietnam Pro"/>
              </a:defRPr>
            </a:pPr>
            <a:r>
              <a:t>Triển khai ban đầu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600" y="4089400"/>
            <a:ext cx="3149600" cy="5816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9706A"/>
                </a:solidFill>
                <a:latin typeface="Be Vietnam Pro"/>
              </a:defRPr>
            </a:pPr>
            <a:r>
              <a:t>Phạm vi nghiệp vụ; cấu hình; dữ liệu</a:t>
            </a:r>
          </a:p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9706A"/>
                </a:solidFill>
                <a:latin typeface="Be Vietnam Pro"/>
              </a:defRPr>
            </a:pPr>
            <a:r>
              <a:t>cũ; tích hợp; đào tạo và bàn giao.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18000" y="2743200"/>
            <a:ext cx="3556000" cy="279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18000" y="2743200"/>
            <a:ext cx="38100" cy="444500"/>
          </a:xfrm>
          <a:prstGeom prst="rect">
            <a:avLst/>
          </a:prstGeom>
          <a:solidFill>
            <a:srgbClr val="137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46600" y="2959100"/>
            <a:ext cx="3149600" cy="2901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37C66"/>
                </a:solidFill>
                <a:latin typeface="Be Vietnam Pro"/>
              </a:defRPr>
            </a:pPr>
            <a: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46600" y="3365500"/>
            <a:ext cx="3149600" cy="4102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23C38"/>
                </a:solidFill>
                <a:latin typeface="Be Vietnam Pro"/>
              </a:defRPr>
            </a:pPr>
            <a:r>
              <a:t>Vận hành định kỳ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46600" y="4089400"/>
            <a:ext cx="3149600" cy="5816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9706A"/>
                </a:solidFill>
                <a:latin typeface="Be Vietnam Pro"/>
              </a:defRPr>
            </a:pPr>
            <a:r>
              <a:t>Hạ tầng, lưu trữ, bảo trì và hỗ trợ</a:t>
            </a:r>
          </a:p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9706A"/>
                </a:solidFill>
                <a:latin typeface="Be Vietnam Pro"/>
              </a:defRPr>
            </a:pPr>
            <a:r>
              <a:t>theo phương án dịch vụ được chọn.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28000" y="2743200"/>
            <a:ext cx="3556000" cy="279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28000" y="2743200"/>
            <a:ext cx="38100" cy="444500"/>
          </a:xfrm>
          <a:prstGeom prst="rect">
            <a:avLst/>
          </a:prstGeom>
          <a:solidFill>
            <a:srgbClr val="137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56600" y="2959100"/>
            <a:ext cx="3149600" cy="2901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37C66"/>
                </a:solidFill>
                <a:latin typeface="Be Vietnam Pro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56600" y="3365500"/>
            <a:ext cx="3149600" cy="4102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23C38"/>
                </a:solidFill>
                <a:latin typeface="Be Vietnam Pro"/>
              </a:defRPr>
            </a:pPr>
            <a:r>
              <a:t>Quy mô sử dụng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56600" y="4089400"/>
            <a:ext cx="3149600" cy="5816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9706A"/>
                </a:solidFill>
                <a:latin typeface="Be Vietnam Pro"/>
              </a:defRPr>
            </a:pPr>
            <a:r>
              <a:t>Số đơn vị, người dùng, hồ sơ nghiên</a:t>
            </a:r>
          </a:p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9706A"/>
                </a:solidFill>
                <a:latin typeface="Be Vietnam Pro"/>
              </a:defRPr>
            </a:pPr>
            <a:r>
              <a:t>cứu và dung lượng lưu trữ.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8000" y="5803900"/>
            <a:ext cx="11226800" cy="3244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55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37C66"/>
                </a:solidFill>
                <a:latin typeface="Be Vietnam Pro"/>
              </a:defRPr>
            </a:pPr>
            <a:r>
              <a:t>Đầu ra báo giá: phạm vi + đầu việc + trách nhiệm + tiến độ + nghiệm thu + điều kiện hỗ trợ.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3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8000" y="444500"/>
            <a:ext cx="317500" cy="50800"/>
          </a:xfrm>
          <a:prstGeom prst="rect">
            <a:avLst/>
          </a:prstGeom>
          <a:solidFill>
            <a:srgbClr val="D6E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5200" y="342900"/>
            <a:ext cx="10083800" cy="2730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D6EF9B"/>
                </a:solidFill>
                <a:latin typeface="Be Vietnam Pro"/>
              </a:defRPr>
            </a:pPr>
            <a:r>
              <a:t>17 / ĐỀ NGHỊ BƯỚC TIẾP THEO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876300"/>
            <a:ext cx="11226800" cy="5509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538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FFFFFF"/>
                </a:solidFill>
                <a:latin typeface="Be Vietnam Pro"/>
              </a:defRPr>
            </a:pPr>
            <a:r>
              <a:t>Thống nhất khảo sát để có phương án cụ thể</a:t>
            </a:r>
          </a:p>
        </p:txBody>
      </p:sp>
      <p:sp>
        <p:nvSpPr>
          <p:cNvPr id="6" name="Rectangle 5"/>
          <p:cNvSpPr/>
          <p:nvPr/>
        </p:nvSpPr>
        <p:spPr>
          <a:xfrm>
            <a:off x="508000" y="6350000"/>
            <a:ext cx="11176000" cy="12700"/>
          </a:xfrm>
          <a:prstGeom prst="rect">
            <a:avLst/>
          </a:prstGeom>
          <a:solidFill>
            <a:srgbClr val="597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8000" y="6489700"/>
            <a:ext cx="9956800" cy="238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D8E2DC"/>
                </a:solidFill>
                <a:latin typeface="Be Vietnam Pro"/>
              </a:defRPr>
            </a:pPr>
            <a:r>
              <a:t>RMS / BẢN CHÀO GIẢI PHÁP • 09.2026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03000" y="6451600"/>
            <a:ext cx="431800" cy="2901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D6EF9B"/>
                </a:solidFill>
                <a:latin typeface="Be Vietnam Pro"/>
              </a:defRPr>
            </a:pPr>
            <a:r>
              <a:t>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8000" y="2628900"/>
            <a:ext cx="39878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D6EF9B"/>
                </a:solidFill>
                <a:latin typeface="Be Vietnam Pro"/>
              </a:defRPr>
            </a:pPr>
            <a:r>
              <a:t>01 Cử đầu mối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99000" y="2628900"/>
            <a:ext cx="6972300" cy="375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FFFF"/>
                </a:solidFill>
                <a:latin typeface="Be Vietnam Pro"/>
              </a:defRPr>
            </a:pPr>
            <a:r>
              <a:t>Nghiệp vụ • công nghệ thông tin • tài chính khi có đối soát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8000" y="3632200"/>
            <a:ext cx="39878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D6EF9B"/>
                </a:solidFill>
                <a:latin typeface="Be Vietnam Pro"/>
              </a:defRPr>
            </a:pPr>
            <a:r>
              <a:t>02 Chuẩn bị mẫu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99000" y="3632200"/>
            <a:ext cx="6972300" cy="375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FFFF"/>
                </a:solidFill>
                <a:latin typeface="Be Vietnam Pro"/>
              </a:defRPr>
            </a:pPr>
            <a:r>
              <a:t>Quy trình • biểu mẫu • báo cáo • danh mục hệ thống đang dùng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8000" y="4635500"/>
            <a:ext cx="39878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D6EF9B"/>
                </a:solidFill>
                <a:latin typeface="Be Vietnam Pro"/>
              </a:defRPr>
            </a:pPr>
            <a:r>
              <a:t>03 Chọn ưu tiên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99000" y="4635500"/>
            <a:ext cx="6972300" cy="375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FFFF"/>
                </a:solidFill>
                <a:latin typeface="Be Vietnam Pro"/>
              </a:defRPr>
            </a:pPr>
            <a:r>
              <a:t>Một bài toán trọng tâm • nhóm thí điểm • cách đo thành công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8000" y="5854700"/>
            <a:ext cx="11226800" cy="3244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55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Be Vietnam Pro"/>
              </a:defRPr>
            </a:pPr>
            <a:r>
              <a:t>Kết quả sau khảo sát: đề xuất phạm vi, phương án triển khai và dự toán để phê duyệt.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8000" y="444500"/>
            <a:ext cx="317500" cy="50800"/>
          </a:xfrm>
          <a:prstGeom prst="rect">
            <a:avLst/>
          </a:prstGeom>
          <a:solidFill>
            <a:srgbClr val="137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5200" y="342900"/>
            <a:ext cx="10083800" cy="2730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37C66"/>
                </a:solidFill>
                <a:latin typeface="Be Vietnam Pro"/>
              </a:defRPr>
            </a:pPr>
            <a:r>
              <a:t>TRAO ĐỔI NHU CẦU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876300"/>
            <a:ext cx="11226800" cy="5509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538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23C38"/>
                </a:solidFill>
                <a:latin typeface="Be Vietnam Pro"/>
              </a:defRPr>
            </a:pPr>
            <a:r>
              <a:t>Sáu thông tin để xây dựng đề xuất sát nhu cầu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1943100"/>
            <a:ext cx="10972800" cy="3244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55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9706A"/>
                </a:solidFill>
                <a:latin typeface="Be Vietnam Pro"/>
              </a:defRPr>
            </a:pPr>
            <a:r>
              <a:t>Thống nhất đầu vào để xây dựng phương án phù hợp với đơn vị.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8000" y="6350000"/>
            <a:ext cx="11176000" cy="12700"/>
          </a:xfrm>
          <a:prstGeom prst="rect">
            <a:avLst/>
          </a:prstGeom>
          <a:solidFill>
            <a:srgbClr val="D8E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8000" y="6489700"/>
            <a:ext cx="9956800" cy="238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59706A"/>
                </a:solidFill>
                <a:latin typeface="Be Vietnam Pro"/>
              </a:defRPr>
            </a:pPr>
            <a:r>
              <a:t>RMS / BẢN CHÀO GIẢI PHÁP • 09.2026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03000" y="6451600"/>
            <a:ext cx="431800" cy="2901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37C66"/>
                </a:solidFill>
                <a:latin typeface="Be Vietnam Pro"/>
              </a:defRPr>
            </a:pPr>
            <a:r>
              <a:t>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8000" y="2590800"/>
            <a:ext cx="2590800" cy="375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37C66"/>
                </a:solidFill>
                <a:latin typeface="Be Vietnam Pro"/>
              </a:defRPr>
            </a:pPr>
            <a:r>
              <a:t>Quy mô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75000" y="2590800"/>
            <a:ext cx="8496300" cy="358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23C38"/>
                </a:solidFill>
                <a:latin typeface="Be Vietnam Pro"/>
              </a:defRPr>
            </a:pPr>
            <a:r>
              <a:t>Bao nhiêu đơn vị, người dùng và đề tài mỗi năm?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8000" y="3009900"/>
            <a:ext cx="11176000" cy="12700"/>
          </a:xfrm>
          <a:prstGeom prst="rect">
            <a:avLst/>
          </a:prstGeom>
          <a:solidFill>
            <a:srgbClr val="D8E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8000" y="3175000"/>
            <a:ext cx="2590800" cy="375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37C66"/>
                </a:solidFill>
                <a:latin typeface="Be Vietnam Pro"/>
              </a:defRPr>
            </a:pPr>
            <a:r>
              <a:t>Quy trình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75000" y="3175000"/>
            <a:ext cx="8496300" cy="358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23C38"/>
                </a:solidFill>
                <a:latin typeface="Be Vietnam Pro"/>
              </a:defRPr>
            </a:pPr>
            <a:r>
              <a:t>Ai tiếp nhận, đánh giá và phê duyệt ở từng cấp?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8000" y="3594100"/>
            <a:ext cx="11176000" cy="12700"/>
          </a:xfrm>
          <a:prstGeom prst="rect">
            <a:avLst/>
          </a:prstGeom>
          <a:solidFill>
            <a:srgbClr val="D8E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8000" y="3759200"/>
            <a:ext cx="2590800" cy="375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37C66"/>
                </a:solidFill>
                <a:latin typeface="Be Vietnam Pro"/>
              </a:defRPr>
            </a:pPr>
            <a:r>
              <a:t>Dữ liệu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75000" y="3759200"/>
            <a:ext cx="8496300" cy="358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23C38"/>
                </a:solidFill>
                <a:latin typeface="Be Vietnam Pro"/>
              </a:defRPr>
            </a:pPr>
            <a:r>
              <a:t>Hồ sơ cũ ở đâu, chất lượng và số năm cần chuyển?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8000" y="4178300"/>
            <a:ext cx="11176000" cy="12700"/>
          </a:xfrm>
          <a:prstGeom prst="rect">
            <a:avLst/>
          </a:prstGeom>
          <a:solidFill>
            <a:srgbClr val="D8E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8000" y="4343400"/>
            <a:ext cx="2590800" cy="375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37C66"/>
                </a:solidFill>
                <a:latin typeface="Be Vietnam Pro"/>
              </a:defRPr>
            </a:pPr>
            <a:r>
              <a:t>Kết nối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75000" y="4343400"/>
            <a:ext cx="8496300" cy="358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23C38"/>
                </a:solidFill>
                <a:latin typeface="Be Vietnam Pro"/>
              </a:defRPr>
            </a:pPr>
            <a:r>
              <a:t>Hệ thống định danh, tài chính và kênh thông báo nào?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8000" y="4762500"/>
            <a:ext cx="11176000" cy="12700"/>
          </a:xfrm>
          <a:prstGeom prst="rect">
            <a:avLst/>
          </a:prstGeom>
          <a:solidFill>
            <a:srgbClr val="D8E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8000" y="4927600"/>
            <a:ext cx="2590800" cy="375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37C66"/>
                </a:solidFill>
                <a:latin typeface="Be Vietnam Pro"/>
              </a:defRPr>
            </a:pPr>
            <a:r>
              <a:t>Thành công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75000" y="4927600"/>
            <a:ext cx="8496300" cy="358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23C38"/>
                </a:solidFill>
                <a:latin typeface="Be Vietnam Pro"/>
              </a:defRPr>
            </a:pPr>
            <a:r>
              <a:t>Hai chỉ số nào chứng minh thí điểm có giá trị?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8000" y="5346700"/>
            <a:ext cx="11176000" cy="12700"/>
          </a:xfrm>
          <a:prstGeom prst="rect">
            <a:avLst/>
          </a:prstGeom>
          <a:solidFill>
            <a:srgbClr val="D8E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8000" y="5511800"/>
            <a:ext cx="2590800" cy="375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37C66"/>
                </a:solidFill>
                <a:latin typeface="Be Vietnam Pro"/>
              </a:defRPr>
            </a:pPr>
            <a:r>
              <a:t>Triển khai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75000" y="5511800"/>
            <a:ext cx="8496300" cy="358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23C38"/>
                </a:solidFill>
                <a:latin typeface="Be Vietnam Pro"/>
              </a:defRPr>
            </a:pPr>
            <a:r>
              <a:t>Ai chủ trì, nguồn kinh phí và mốc quyết định dự kiến?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8000" y="5930900"/>
            <a:ext cx="11176000" cy="12700"/>
          </a:xfrm>
          <a:prstGeom prst="rect">
            <a:avLst/>
          </a:prstGeom>
          <a:solidFill>
            <a:srgbClr val="D8E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RMS | Giải pháp quản lý nghiên cứu khoa học</dc:title>
  <dc:subject>Bản chào giải pháp cho sở, ban, ngành; trường đại học; bệnh viện</dc:subject>
  <dc:creator>RMS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